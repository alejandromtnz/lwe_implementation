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78" r:id="rId2"/>
    <p:sldId id="324" r:id="rId3"/>
    <p:sldId id="323" r:id="rId4"/>
    <p:sldId id="325" r:id="rId5"/>
    <p:sldId id="326" r:id="rId6"/>
    <p:sldId id="327" r:id="rId7"/>
    <p:sldId id="328" r:id="rId8"/>
    <p:sldId id="340" r:id="rId9"/>
    <p:sldId id="332" r:id="rId10"/>
    <p:sldId id="333" r:id="rId11"/>
    <p:sldId id="334" r:id="rId12"/>
    <p:sldId id="335" r:id="rId13"/>
    <p:sldId id="336" r:id="rId14"/>
    <p:sldId id="337" r:id="rId15"/>
    <p:sldId id="276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8D6E0"/>
    <a:srgbClr val="E5F4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0063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208" y="5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KiB</c:v>
                </c:pt>
              </c:strCache>
            </c:strRef>
          </c:tx>
          <c:spPr>
            <a:solidFill>
              <a:srgbClr val="0060A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B2430"/>
                    </a:solidFill>
                    <a:latin typeface="Calibri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16</c:v>
                </c:pt>
                <c:pt idx="1">
                  <c:v>32</c:v>
                </c:pt>
                <c:pt idx="2">
                  <c:v>64</c:v>
                </c:pt>
                <c:pt idx="3">
                  <c:v>96</c:v>
                </c:pt>
                <c:pt idx="4">
                  <c:v>128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0.56000000000000005</c:v>
                </c:pt>
                <c:pt idx="1">
                  <c:v>2.25</c:v>
                </c:pt>
                <c:pt idx="2">
                  <c:v>9</c:v>
                </c:pt>
                <c:pt idx="3">
                  <c:v>20.25</c:v>
                </c:pt>
                <c:pt idx="4">
                  <c:v>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20A-4A48-8EF3-4FEA0C102FE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50" b="0" i="0" u="none" strike="noStrike">
                    <a:solidFill>
                      <a:srgbClr val="6C7681"/>
                    </a:solidFill>
                    <a:latin typeface="Arial"/>
                  </a:defRPr>
                </a:pPr>
                <a:r>
                  <a:rPr lang="es-ES_tradnl" sz="1300" b="0" i="0" u="none" strike="noStrike" dirty="0">
                    <a:solidFill>
                      <a:schemeClr val="tx1"/>
                    </a:solidFill>
                    <a:latin typeface="+mj-lt"/>
                  </a:rPr>
                  <a:t>dimensión n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C768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7EB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50" b="0" i="0" u="none" strike="noStrike">
                    <a:solidFill>
                      <a:srgbClr val="6C7681"/>
                    </a:solidFill>
                    <a:latin typeface="Arial"/>
                  </a:defRPr>
                </a:pPr>
                <a:r>
                  <a:rPr lang="es-ES_tradnl" sz="1300" b="0" i="0" u="none" strike="noStrike" dirty="0">
                    <a:solidFill>
                      <a:schemeClr val="tx1"/>
                    </a:solidFill>
                    <a:latin typeface="+mj-lt"/>
                  </a:rPr>
                  <a:t>clave pública (KiB)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C768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2362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8EDD8-177B-17F5-1D4A-E2ED3A829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F220452-DA82-693A-0D95-12E251E11C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BF3F732-0079-4670-2477-343ECD2E59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100F6BB-7E95-5CA4-E10D-7C8E20B7D5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058AE-FEB0-D242-BCAE-44464DE802C9}" type="slidenum">
              <a:rPr lang="es-ES_tradnl" smtClean="0"/>
              <a:t>1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33039655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AC1D5-9171-DD0F-333E-6B58A034E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5FE3B9-50B9-4E2E-A967-637511E4C1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61B8A5-26F7-F128-5CCC-CAEE780D0E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1FD3A4-CB0F-37DB-551C-9AE32B2EDD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941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636F8-7488-8617-43ED-A030CCE72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2BF1A8-0B52-43B3-A408-6539A7635D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91CA48-2107-3443-0B0D-764A14C58B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3E0C63-E411-FCB5-E0AD-8C14DC27A6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1412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BB9C0-0DBE-850E-249B-659B87DDD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E48268-2ED7-FE37-9B09-05A3E4A86D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58D76E-AEF6-2B79-53B6-B58A4CA51F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CACCAF-7EB3-EFAD-A863-F1A7F989BD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0819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66B85-4351-EC0F-78D7-C32F43BA5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AD0D5E-651A-75E6-E3EF-116AB56FF0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007637-39AC-B862-1689-DB2C54CC31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D29F4E-CF13-C858-AFED-333B6AFA40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9115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85D10-2021-D541-FE7E-586004480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7DD5BB-ECBC-6395-EDB5-0C6A1BE06E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60D64F-5344-5682-53F4-BA9CE012F3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CB90AC-2AE2-1546-67C8-9DE6944226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0716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B598A-AD76-5C7D-5927-206D3E9E0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2F5FC9-1FB8-55BE-136B-7151546CA1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7C13AE-8D38-1AB1-C336-EC17B9CBFD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BB8122-0750-5BF5-10C9-53D83AC9D8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5670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86314-54DE-E3FA-6098-6A190A0FD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4861A1-9D28-38BD-3B04-80BC9C1BF2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6BAB92-F1D4-BB76-1B76-89A22D9310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478705-B935-C9B0-BA4E-FF349A5010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9243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F19E7-420B-67C1-436A-63187B5E7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764A6A-CE3B-801E-6BC8-978227D857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34EC50-FE47-9FB3-BA6E-63EE29DC54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F93328-C554-DFF4-1B97-0EF43461BF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389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A3A51-2F44-5C1E-A44E-7F2F38F7A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ECB20F-8D15-E2F2-BA9C-79A153EDB4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8DB1DE-5EB3-FD72-8BA8-5A79370D8C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DEB3D4-5BCD-FAF0-7FD1-1D09177869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5181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DB200-1404-7DB3-372E-CD00B160E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FCEA72-570C-6CD7-4171-C35B0BF6A4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937B4C-203F-8531-15CC-E017F4E4C5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F3B987-CEFA-F975-B629-CEC336498E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1291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560B1-CE07-AB59-D47B-2E3A62CCD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85D900-C953-9AC3-E3EB-187B48D03A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8D9806-DC0B-08FC-3D44-DB93E34C87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442610-79BE-5DED-7468-C3A494BF78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8857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560B1-CE07-AB59-D47B-2E3A62CCD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85D900-C953-9AC3-E3EB-187B48D03A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8D9806-DC0B-08FC-3D44-DB93E34C87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442610-79BE-5DED-7468-C3A494BF78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8857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36EE8-D4C3-971B-C086-F45177810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49E129-9320-0452-4D67-9EE212E2AA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54542E-AA50-9F5F-A3E7-D18EAF8C13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0D5667-F6ED-B551-DE11-80BBA4A03B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7841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058AE-FEB0-D242-BCAE-44464DE802C9}" type="slidenum">
              <a:rPr lang="es-ES_tradnl" smtClean="0"/>
              <a:t>15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33449227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object 25">
            <a:extLst>
              <a:ext uri="{FF2B5EF4-FFF2-40B4-BE49-F238E27FC236}">
                <a16:creationId xmlns:a16="http://schemas.microsoft.com/office/drawing/2014/main" id="{B5B8F871-0E84-42DA-BFCD-CDAC5D2E41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/>
          <a:srcRect b="9915"/>
          <a:stretch/>
        </p:blipFill>
        <p:spPr>
          <a:xfrm>
            <a:off x="9666514" y="5977316"/>
            <a:ext cx="2525486" cy="880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560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F8341-295D-C6FC-F174-557EDA9C2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a libre 11">
            <a:extLst>
              <a:ext uri="{FF2B5EF4-FFF2-40B4-BE49-F238E27FC236}">
                <a16:creationId xmlns:a16="http://schemas.microsoft.com/office/drawing/2014/main" id="{E6AE2899-F72F-9763-C09C-E3664A31A41A}"/>
              </a:ext>
            </a:extLst>
          </p:cNvPr>
          <p:cNvSpPr/>
          <p:nvPr/>
        </p:nvSpPr>
        <p:spPr>
          <a:xfrm>
            <a:off x="0" y="0"/>
            <a:ext cx="12192001" cy="6858000"/>
          </a:xfrm>
          <a:custGeom>
            <a:avLst/>
            <a:gdLst>
              <a:gd name="connsiteX0" fmla="*/ 1130164 w 5988108"/>
              <a:gd name="connsiteY0" fmla="*/ 0 h 6858123"/>
              <a:gd name="connsiteX1" fmla="*/ 4627399 w 5988108"/>
              <a:gd name="connsiteY1" fmla="*/ 0 h 6858123"/>
              <a:gd name="connsiteX2" fmla="*/ 4627399 w 5988108"/>
              <a:gd name="connsiteY2" fmla="*/ 121 h 6858123"/>
              <a:gd name="connsiteX3" fmla="*/ 5988108 w 5988108"/>
              <a:gd name="connsiteY3" fmla="*/ 121 h 6858123"/>
              <a:gd name="connsiteX4" fmla="*/ 3645379 w 5988108"/>
              <a:gd name="connsiteY4" fmla="*/ 6858120 h 6858123"/>
              <a:gd name="connsiteX5" fmla="*/ 3497235 w 5988108"/>
              <a:gd name="connsiteY5" fmla="*/ 6858120 h 6858123"/>
              <a:gd name="connsiteX6" fmla="*/ 3497235 w 5988108"/>
              <a:gd name="connsiteY6" fmla="*/ 6858123 h 6858123"/>
              <a:gd name="connsiteX7" fmla="*/ 0 w 5988108"/>
              <a:gd name="connsiteY7" fmla="*/ 6858123 h 6858123"/>
              <a:gd name="connsiteX8" fmla="*/ 0 w 5988108"/>
              <a:gd name="connsiteY8" fmla="*/ 123 h 6858123"/>
              <a:gd name="connsiteX9" fmla="*/ 1130164 w 5988108"/>
              <a:gd name="connsiteY9" fmla="*/ 123 h 6858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988108" h="6858123">
                <a:moveTo>
                  <a:pt x="1130164" y="0"/>
                </a:moveTo>
                <a:lnTo>
                  <a:pt x="4627399" y="0"/>
                </a:lnTo>
                <a:lnTo>
                  <a:pt x="4627399" y="121"/>
                </a:lnTo>
                <a:lnTo>
                  <a:pt x="5988108" y="121"/>
                </a:lnTo>
                <a:lnTo>
                  <a:pt x="3645379" y="6858120"/>
                </a:lnTo>
                <a:lnTo>
                  <a:pt x="3497235" y="6858120"/>
                </a:lnTo>
                <a:lnTo>
                  <a:pt x="3497235" y="6858123"/>
                </a:lnTo>
                <a:lnTo>
                  <a:pt x="0" y="6858123"/>
                </a:lnTo>
                <a:lnTo>
                  <a:pt x="0" y="123"/>
                </a:lnTo>
                <a:lnTo>
                  <a:pt x="1130164" y="123"/>
                </a:lnTo>
                <a:close/>
              </a:path>
            </a:pathLst>
          </a:custGeom>
          <a:solidFill>
            <a:srgbClr val="0760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_tradnl" noProof="0" dirty="0"/>
          </a:p>
        </p:txBody>
      </p:sp>
      <p:pic>
        <p:nvPicPr>
          <p:cNvPr id="10" name="object 16">
            <a:extLst>
              <a:ext uri="{FF2B5EF4-FFF2-40B4-BE49-F238E27FC236}">
                <a16:creationId xmlns:a16="http://schemas.microsoft.com/office/drawing/2014/main" id="{37EE649E-2487-D249-D33D-8BDA8D202AF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5538902"/>
            <a:ext cx="3497234" cy="1319098"/>
          </a:xfrm>
          <a:prstGeom prst="rect">
            <a:avLst/>
          </a:prstGeom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805CAA6A-7A7F-7756-1A39-A74993150C4B}"/>
              </a:ext>
            </a:extLst>
          </p:cNvPr>
          <p:cNvSpPr/>
          <p:nvPr/>
        </p:nvSpPr>
        <p:spPr>
          <a:xfrm>
            <a:off x="422713" y="2167052"/>
            <a:ext cx="61490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100" b="1" kern="0" spc="200" noProof="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DE FIN DE GRADO  ·  INGENIERÍA MATEMÁTICA</a:t>
            </a:r>
            <a:endParaRPr lang="es-ES_tradnl" sz="1100" noProof="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0D38E22-CF99-2B62-EC9F-F5ACC80690E8}"/>
              </a:ext>
            </a:extLst>
          </p:cNvPr>
          <p:cNvSpPr/>
          <p:nvPr/>
        </p:nvSpPr>
        <p:spPr>
          <a:xfrm>
            <a:off x="422713" y="2441372"/>
            <a:ext cx="79558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300"/>
              </a:lnSpc>
              <a:buNone/>
            </a:pPr>
            <a:r>
              <a:rPr lang="es-ES_tradnl" sz="32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de Learning With Errors </a:t>
            </a:r>
          </a:p>
          <a:p>
            <a:pPr marL="0" indent="0">
              <a:lnSpc>
                <a:spcPts val="3300"/>
              </a:lnSpc>
              <a:buNone/>
            </a:pPr>
            <a:r>
              <a:rPr lang="es-ES_tradnl" sz="32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implementación de esquemas seguros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9900E73-C8E3-8F87-EFB4-4ED9BB1DA148}"/>
              </a:ext>
            </a:extLst>
          </p:cNvPr>
          <p:cNvSpPr/>
          <p:nvPr/>
        </p:nvSpPr>
        <p:spPr>
          <a:xfrm>
            <a:off x="422713" y="3378632"/>
            <a:ext cx="614904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s-ES_tradnl" i="1" noProof="0" dirty="0">
                <a:solidFill>
                  <a:srgbClr val="DC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criptografía postcuántica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93B74DD-B323-253E-77B8-98C4A03846CC}"/>
              </a:ext>
            </a:extLst>
          </p:cNvPr>
          <p:cNvSpPr/>
          <p:nvPr/>
        </p:nvSpPr>
        <p:spPr>
          <a:xfrm>
            <a:off x="422713" y="4624502"/>
            <a:ext cx="614904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s-ES_tradnl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Alejandro Martínez Ronda</a:t>
            </a:r>
            <a:endParaRPr lang="es-ES_tradnl" sz="1400" noProof="0" dirty="0"/>
          </a:p>
          <a:p>
            <a:pPr marL="0" indent="0">
              <a:lnSpc>
                <a:spcPts val="1800"/>
              </a:lnSpc>
              <a:buNone/>
            </a:pPr>
            <a:r>
              <a:rPr lang="es-ES_tradnl" sz="1200" noProof="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Tutor: Jorge Calvo Martín</a:t>
            </a:r>
            <a:endParaRPr lang="es-ES_tradnl" sz="1400" noProof="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D35BB41-6E89-40F9-7CC7-618D09A892F6}"/>
              </a:ext>
            </a:extLst>
          </p:cNvPr>
          <p:cNvSpPr/>
          <p:nvPr/>
        </p:nvSpPr>
        <p:spPr>
          <a:xfrm>
            <a:off x="422713" y="5264582"/>
            <a:ext cx="61490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0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 de 2026</a:t>
            </a:r>
            <a:endParaRPr lang="es-ES_tradnl" sz="1050" b="1" noProof="0" dirty="0"/>
          </a:p>
        </p:txBody>
      </p:sp>
    </p:spTree>
    <p:extLst>
      <p:ext uri="{BB962C8B-B14F-4D97-AF65-F5344CB8AC3E}">
        <p14:creationId xmlns:p14="http://schemas.microsoft.com/office/powerpoint/2010/main" val="2353850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E238C-EB2A-47A3-D7BE-2B690C481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0118F94-E0E9-41D3-DF70-B95A0D3F86C2}"/>
              </a:ext>
            </a:extLst>
          </p:cNvPr>
          <p:cNvSpPr/>
          <p:nvPr/>
        </p:nvSpPr>
        <p:spPr>
          <a:xfrm>
            <a:off x="841248" y="457200"/>
            <a:ext cx="105091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150" b="1" kern="0" spc="300" dirty="0">
                <a:solidFill>
                  <a:srgbClr val="006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1 · CONTEXTO</a:t>
            </a:r>
            <a:endParaRPr lang="es-ES_tradnl" sz="1150" dirty="0"/>
          </a:p>
        </p:txBody>
      </p:sp>
      <p:pic>
        <p:nvPicPr>
          <p:cNvPr id="3" name="Image 0" descr="figs/uax_color.png">
            <a:extLst>
              <a:ext uri="{FF2B5EF4-FFF2-40B4-BE49-F238E27FC236}">
                <a16:creationId xmlns:a16="http://schemas.microsoft.com/office/drawing/2014/main" id="{AAA5EC10-730B-77D7-4414-FEE9154A18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6854" y="164593"/>
            <a:ext cx="1932677" cy="749808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BF9E496B-1456-40D3-5FE3-96BD5B41410B}"/>
              </a:ext>
            </a:extLst>
          </p:cNvPr>
          <p:cNvSpPr/>
          <p:nvPr/>
        </p:nvSpPr>
        <p:spPr>
          <a:xfrm>
            <a:off x="841248" y="731520"/>
            <a:ext cx="1050919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_tradnl" sz="3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El algoritmo de Shor rompe la clave pública actual</a:t>
            </a:r>
            <a:endParaRPr lang="es-ES_tradnl" sz="30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570D2D4A-32A9-7573-6BA4-80CC2B60DDF7}"/>
              </a:ext>
            </a:extLst>
          </p:cNvPr>
          <p:cNvSpPr/>
          <p:nvPr/>
        </p:nvSpPr>
        <p:spPr>
          <a:xfrm>
            <a:off x="841248" y="1481328"/>
            <a:ext cx="10509199" cy="0"/>
          </a:xfrm>
          <a:prstGeom prst="line">
            <a:avLst/>
          </a:prstGeom>
          <a:noFill/>
          <a:ln w="12700">
            <a:solidFill>
              <a:srgbClr val="C8CFD4"/>
            </a:solidFill>
            <a:prstDash val="solid"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A4208CAF-D8A0-97D6-E43F-07F76C9D4AFB}"/>
              </a:ext>
            </a:extLst>
          </p:cNvPr>
          <p:cNvSpPr/>
          <p:nvPr/>
        </p:nvSpPr>
        <p:spPr>
          <a:xfrm>
            <a:off x="841248" y="6400800"/>
            <a:ext cx="10509199" cy="0"/>
          </a:xfrm>
          <a:prstGeom prst="line">
            <a:avLst/>
          </a:prstGeom>
          <a:noFill/>
          <a:ln w="9525">
            <a:solidFill>
              <a:srgbClr val="E7EBEE"/>
            </a:solidFill>
            <a:prstDash val="solid"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10E94061-23DB-6EB2-76CA-C2827B6527EF}"/>
              </a:ext>
            </a:extLst>
          </p:cNvPr>
          <p:cNvSpPr/>
          <p:nvPr/>
        </p:nvSpPr>
        <p:spPr>
          <a:xfrm>
            <a:off x="841248" y="645566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850" b="1" kern="0" spc="200" dirty="0">
                <a:solidFill>
                  <a:srgbClr val="AE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POSTCUÁNTICA · LEARNING WITH ERRORS</a:t>
            </a:r>
            <a:endParaRPr lang="es-ES_tradnl" sz="85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8161894F-1FF0-8372-7A6E-0E2FECE868D3}"/>
              </a:ext>
            </a:extLst>
          </p:cNvPr>
          <p:cNvSpPr/>
          <p:nvPr/>
        </p:nvSpPr>
        <p:spPr>
          <a:xfrm>
            <a:off x="9521647" y="64556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_tradnl" sz="850" b="0" dirty="0">
                <a:solidFill>
                  <a:srgbClr val="AEB6BD"/>
                </a:solidFill>
                <a:latin typeface="Calibri"/>
              </a:rPr>
              <a:t>01 / 13</a:t>
            </a:r>
            <a:endParaRPr lang="es-ES_tradnl" sz="850" dirty="0"/>
          </a:p>
        </p:txBody>
      </p:sp>
      <p:sp>
        <p:nvSpPr>
          <p:cNvPr id="6" name="Rectangle 19">
            <a:extLst>
              <a:ext uri="{FF2B5EF4-FFF2-40B4-BE49-F238E27FC236}">
                <a16:creationId xmlns:a16="http://schemas.microsoft.com/office/drawing/2014/main" id="{A1E3C0C5-F53B-C02A-8F21-8D386F616E20}"/>
              </a:ext>
            </a:extLst>
          </p:cNvPr>
          <p:cNvSpPr/>
          <p:nvPr/>
        </p:nvSpPr>
        <p:spPr>
          <a:xfrm>
            <a:off x="5897880" y="1783080"/>
            <a:ext cx="12801" cy="3703320"/>
          </a:xfrm>
          <a:prstGeom prst="rect">
            <a:avLst/>
          </a:prstGeom>
          <a:solidFill>
            <a:srgbClr val="D8D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7" name="TextBox 21">
            <a:extLst>
              <a:ext uri="{FF2B5EF4-FFF2-40B4-BE49-F238E27FC236}">
                <a16:creationId xmlns:a16="http://schemas.microsoft.com/office/drawing/2014/main" id="{12248DAC-BDF7-8D3F-B750-0B587F8F28A9}"/>
              </a:ext>
            </a:extLst>
          </p:cNvPr>
          <p:cNvSpPr txBox="1"/>
          <p:nvPr/>
        </p:nvSpPr>
        <p:spPr>
          <a:xfrm>
            <a:off x="841248" y="2200409"/>
            <a:ext cx="634509" cy="2306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</a:pPr>
            <a:r>
              <a:rPr lang="es-ES_tradnl" sz="1500" b="1" dirty="0">
                <a:solidFill>
                  <a:srgbClr val="1B2430"/>
                </a:solidFill>
                <a:latin typeface="Cambria"/>
              </a:rPr>
              <a:t>RSA</a:t>
            </a:r>
            <a:r>
              <a:rPr lang="es-ES_tradnl" sz="1250" b="0" dirty="0">
                <a:solidFill>
                  <a:srgbClr val="6C7681"/>
                </a:solidFill>
                <a:latin typeface="Calibri"/>
              </a:rPr>
              <a:t> </a:t>
            </a:r>
          </a:p>
        </p:txBody>
      </p:sp>
      <p:sp>
        <p:nvSpPr>
          <p:cNvPr id="8" name="TextBox 23">
            <a:extLst>
              <a:ext uri="{FF2B5EF4-FFF2-40B4-BE49-F238E27FC236}">
                <a16:creationId xmlns:a16="http://schemas.microsoft.com/office/drawing/2014/main" id="{FA77DDAA-7175-2D74-AF0B-F337B57A35E8}"/>
              </a:ext>
            </a:extLst>
          </p:cNvPr>
          <p:cNvSpPr txBox="1"/>
          <p:nvPr/>
        </p:nvSpPr>
        <p:spPr>
          <a:xfrm>
            <a:off x="3218688" y="2200409"/>
            <a:ext cx="475488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</a:pPr>
            <a:r>
              <a:rPr lang="es-ES_tradnl" sz="1500" b="1" dirty="0">
                <a:solidFill>
                  <a:srgbClr val="1B2430"/>
                </a:solidFill>
                <a:latin typeface="Cambria"/>
              </a:rPr>
              <a:t>ECC</a:t>
            </a:r>
            <a:endParaRPr lang="es-ES_tradnl" sz="1250" b="0" dirty="0">
              <a:solidFill>
                <a:srgbClr val="6C7681"/>
              </a:solidFill>
              <a:latin typeface="Calibri"/>
            </a:endParaRPr>
          </a:p>
        </p:txBody>
      </p:sp>
      <p:sp>
        <p:nvSpPr>
          <p:cNvPr id="9" name="TextBox 26">
            <a:extLst>
              <a:ext uri="{FF2B5EF4-FFF2-40B4-BE49-F238E27FC236}">
                <a16:creationId xmlns:a16="http://schemas.microsoft.com/office/drawing/2014/main" id="{9C7FC577-5ADC-0F26-FAD9-55E4A54C7875}"/>
              </a:ext>
            </a:extLst>
          </p:cNvPr>
          <p:cNvSpPr txBox="1"/>
          <p:nvPr/>
        </p:nvSpPr>
        <p:spPr>
          <a:xfrm>
            <a:off x="841248" y="4224528"/>
            <a:ext cx="47548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</a:pPr>
            <a:r>
              <a:rPr lang="es-ES_tradnl" sz="1600" b="1" dirty="0">
                <a:solidFill>
                  <a:srgbClr val="0060AB"/>
                </a:solidFill>
                <a:latin typeface="Calibri"/>
              </a:rPr>
              <a:t>SHOR · 1994</a:t>
            </a:r>
          </a:p>
        </p:txBody>
      </p:sp>
      <p:sp>
        <p:nvSpPr>
          <p:cNvPr id="10" name="TextBox 28">
            <a:extLst>
              <a:ext uri="{FF2B5EF4-FFF2-40B4-BE49-F238E27FC236}">
                <a16:creationId xmlns:a16="http://schemas.microsoft.com/office/drawing/2014/main" id="{9DD584C7-672C-2BAD-74E7-575C32FDF2F0}"/>
              </a:ext>
            </a:extLst>
          </p:cNvPr>
          <p:cNvSpPr txBox="1"/>
          <p:nvPr/>
        </p:nvSpPr>
        <p:spPr>
          <a:xfrm>
            <a:off x="6275527" y="2071466"/>
            <a:ext cx="50749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</a:pPr>
            <a:r>
              <a:rPr lang="es-ES_tradnl" sz="1600" b="1" dirty="0">
                <a:solidFill>
                  <a:srgbClr val="0060AB"/>
                </a:solidFill>
                <a:latin typeface="Calibri"/>
              </a:rPr>
              <a:t>¿POR QUÉ ACTUAR YA?</a:t>
            </a:r>
          </a:p>
        </p:txBody>
      </p:sp>
      <p:sp>
        <p:nvSpPr>
          <p:cNvPr id="11" name="TextBox 29">
            <a:extLst>
              <a:ext uri="{FF2B5EF4-FFF2-40B4-BE49-F238E27FC236}">
                <a16:creationId xmlns:a16="http://schemas.microsoft.com/office/drawing/2014/main" id="{FFFE6AF7-0C13-36ED-DFEE-1A90E9C78B3F}"/>
              </a:ext>
            </a:extLst>
          </p:cNvPr>
          <p:cNvSpPr txBox="1"/>
          <p:nvPr/>
        </p:nvSpPr>
        <p:spPr>
          <a:xfrm>
            <a:off x="6275527" y="2573552"/>
            <a:ext cx="64008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</a:pPr>
            <a:r>
              <a:rPr lang="es-ES_tradnl" sz="3200" b="1" dirty="0">
                <a:solidFill>
                  <a:srgbClr val="CED5DB"/>
                </a:solidFill>
                <a:latin typeface="Cambria"/>
              </a:rPr>
              <a:t>01</a:t>
            </a:r>
          </a:p>
        </p:txBody>
      </p:sp>
      <p:sp>
        <p:nvSpPr>
          <p:cNvPr id="12" name="TextBox 30">
            <a:extLst>
              <a:ext uri="{FF2B5EF4-FFF2-40B4-BE49-F238E27FC236}">
                <a16:creationId xmlns:a16="http://schemas.microsoft.com/office/drawing/2014/main" id="{71F09D19-144A-47EA-76BB-7B0FF0DD9BA9}"/>
              </a:ext>
            </a:extLst>
          </p:cNvPr>
          <p:cNvSpPr txBox="1"/>
          <p:nvPr/>
        </p:nvSpPr>
        <p:spPr>
          <a:xfrm>
            <a:off x="6961327" y="2714003"/>
            <a:ext cx="351587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</a:pPr>
            <a:r>
              <a:rPr lang="es-ES_tradnl" sz="2000" b="1" dirty="0">
                <a:solidFill>
                  <a:srgbClr val="1B2430"/>
                </a:solidFill>
                <a:latin typeface="Cambria"/>
              </a:rPr>
              <a:t>Harvest now, decrypt later</a:t>
            </a:r>
          </a:p>
        </p:txBody>
      </p:sp>
      <p:sp>
        <p:nvSpPr>
          <p:cNvPr id="13" name="TextBox 32">
            <a:extLst>
              <a:ext uri="{FF2B5EF4-FFF2-40B4-BE49-F238E27FC236}">
                <a16:creationId xmlns:a16="http://schemas.microsoft.com/office/drawing/2014/main" id="{184C7764-0E16-53A9-DB18-42C50A69140D}"/>
              </a:ext>
            </a:extLst>
          </p:cNvPr>
          <p:cNvSpPr txBox="1"/>
          <p:nvPr/>
        </p:nvSpPr>
        <p:spPr>
          <a:xfrm>
            <a:off x="6275527" y="3429543"/>
            <a:ext cx="64008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</a:pPr>
            <a:r>
              <a:rPr lang="es-ES_tradnl" sz="3200" b="1" dirty="0">
                <a:solidFill>
                  <a:srgbClr val="CED5DB"/>
                </a:solidFill>
                <a:latin typeface="Cambria"/>
              </a:rPr>
              <a:t>02</a:t>
            </a:r>
          </a:p>
        </p:txBody>
      </p:sp>
      <p:sp>
        <p:nvSpPr>
          <p:cNvPr id="14" name="TextBox 33">
            <a:extLst>
              <a:ext uri="{FF2B5EF4-FFF2-40B4-BE49-F238E27FC236}">
                <a16:creationId xmlns:a16="http://schemas.microsoft.com/office/drawing/2014/main" id="{8F051D3C-25B9-40DD-9945-9173DE978262}"/>
              </a:ext>
            </a:extLst>
          </p:cNvPr>
          <p:cNvSpPr txBox="1"/>
          <p:nvPr/>
        </p:nvSpPr>
        <p:spPr>
          <a:xfrm>
            <a:off x="6961327" y="3569994"/>
            <a:ext cx="351587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</a:pPr>
            <a:r>
              <a:rPr lang="es-ES_tradnl" sz="2000" b="1" dirty="0">
                <a:solidFill>
                  <a:srgbClr val="1B2430"/>
                </a:solidFill>
                <a:latin typeface="Cambria"/>
              </a:rPr>
              <a:t>La inercia del despliegue</a:t>
            </a:r>
          </a:p>
        </p:txBody>
      </p:sp>
      <p:sp>
        <p:nvSpPr>
          <p:cNvPr id="15" name="TextBox 35">
            <a:extLst>
              <a:ext uri="{FF2B5EF4-FFF2-40B4-BE49-F238E27FC236}">
                <a16:creationId xmlns:a16="http://schemas.microsoft.com/office/drawing/2014/main" id="{3E71C8CA-A68A-B1BD-C9E9-13FBDA92E9F2}"/>
              </a:ext>
            </a:extLst>
          </p:cNvPr>
          <p:cNvSpPr txBox="1"/>
          <p:nvPr/>
        </p:nvSpPr>
        <p:spPr>
          <a:xfrm>
            <a:off x="6275527" y="4289012"/>
            <a:ext cx="64008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</a:pPr>
            <a:r>
              <a:rPr lang="es-ES_tradnl" sz="3200" b="1" dirty="0">
                <a:solidFill>
                  <a:srgbClr val="CED5DB"/>
                </a:solidFill>
                <a:latin typeface="Cambria"/>
              </a:rPr>
              <a:t>03</a:t>
            </a:r>
          </a:p>
        </p:txBody>
      </p:sp>
      <p:sp>
        <p:nvSpPr>
          <p:cNvPr id="16" name="TextBox 36">
            <a:extLst>
              <a:ext uri="{FF2B5EF4-FFF2-40B4-BE49-F238E27FC236}">
                <a16:creationId xmlns:a16="http://schemas.microsoft.com/office/drawing/2014/main" id="{67E2EC6A-3278-D9E5-5756-EA6B3572E2C1}"/>
              </a:ext>
            </a:extLst>
          </p:cNvPr>
          <p:cNvSpPr txBox="1"/>
          <p:nvPr/>
        </p:nvSpPr>
        <p:spPr>
          <a:xfrm>
            <a:off x="6961326" y="4429463"/>
            <a:ext cx="3394045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</a:pPr>
            <a:r>
              <a:rPr lang="es-ES_tradnl" sz="2000" b="1" dirty="0">
                <a:solidFill>
                  <a:srgbClr val="1B2430"/>
                </a:solidFill>
                <a:latin typeface="Cambria"/>
              </a:rPr>
              <a:t>La respuesta del NIST</a:t>
            </a:r>
          </a:p>
        </p:txBody>
      </p:sp>
      <p:sp>
        <p:nvSpPr>
          <p:cNvPr id="20" name="Text 3">
            <a:extLst>
              <a:ext uri="{FF2B5EF4-FFF2-40B4-BE49-F238E27FC236}">
                <a16:creationId xmlns:a16="http://schemas.microsoft.com/office/drawing/2014/main" id="{260FCA72-FDD9-1998-084C-269FD1415E6C}"/>
              </a:ext>
            </a:extLst>
          </p:cNvPr>
          <p:cNvSpPr/>
          <p:nvPr/>
        </p:nvSpPr>
        <p:spPr>
          <a:xfrm>
            <a:off x="841248" y="1702061"/>
            <a:ext cx="459198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300" i="1" dirty="0">
                <a:solidFill>
                  <a:srgbClr val="6C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dos problemas que hoy la sostienen — y que Shor ataca:</a:t>
            </a:r>
            <a:endParaRPr lang="es-ES_tradnl" sz="1300" dirty="0"/>
          </a:p>
        </p:txBody>
      </p:sp>
      <p:sp>
        <p:nvSpPr>
          <p:cNvPr id="21" name="Shape 4">
            <a:extLst>
              <a:ext uri="{FF2B5EF4-FFF2-40B4-BE49-F238E27FC236}">
                <a16:creationId xmlns:a16="http://schemas.microsoft.com/office/drawing/2014/main" id="{1BA23C07-7AF2-DCFE-9C65-CC7D636985E7}"/>
              </a:ext>
            </a:extLst>
          </p:cNvPr>
          <p:cNvSpPr/>
          <p:nvPr/>
        </p:nvSpPr>
        <p:spPr>
          <a:xfrm>
            <a:off x="841248" y="3915971"/>
            <a:ext cx="4754880" cy="22200"/>
          </a:xfrm>
          <a:prstGeom prst="line">
            <a:avLst/>
          </a:prstGeom>
          <a:noFill/>
          <a:ln w="9525">
            <a:solidFill>
              <a:srgbClr val="E7EBEE"/>
            </a:solidFill>
            <a:prstDash val="solid"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23" name="TextBox 21">
            <a:extLst>
              <a:ext uri="{FF2B5EF4-FFF2-40B4-BE49-F238E27FC236}">
                <a16:creationId xmlns:a16="http://schemas.microsoft.com/office/drawing/2014/main" id="{EC26C5B9-2387-E755-F642-A00A2208425F}"/>
              </a:ext>
            </a:extLst>
          </p:cNvPr>
          <p:cNvSpPr txBox="1"/>
          <p:nvPr/>
        </p:nvSpPr>
        <p:spPr>
          <a:xfrm>
            <a:off x="841248" y="2426288"/>
            <a:ext cx="17590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</a:pPr>
            <a:r>
              <a:rPr lang="es-ES_tradnl" sz="1250" b="0" dirty="0">
                <a:solidFill>
                  <a:srgbClr val="6C7681"/>
                </a:solidFill>
                <a:latin typeface="Calibri"/>
              </a:rPr>
              <a:t>factorización de enteros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D5DB89-1CEC-7E4E-0DBE-27474040DF49}"/>
              </a:ext>
            </a:extLst>
          </p:cNvPr>
          <p:cNvSpPr txBox="1"/>
          <p:nvPr/>
        </p:nvSpPr>
        <p:spPr>
          <a:xfrm>
            <a:off x="3218688" y="2426288"/>
            <a:ext cx="2275943" cy="193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</a:pPr>
            <a:r>
              <a:rPr lang="es-ES_tradnl" sz="1250" b="0" dirty="0">
                <a:solidFill>
                  <a:srgbClr val="6C7681"/>
                </a:solidFill>
                <a:latin typeface="Calibri"/>
              </a:rPr>
              <a:t>logaritmo discreto</a:t>
            </a:r>
          </a:p>
        </p:txBody>
      </p:sp>
      <p:sp>
        <p:nvSpPr>
          <p:cNvPr id="25" name="TextBox 27">
            <a:extLst>
              <a:ext uri="{FF2B5EF4-FFF2-40B4-BE49-F238E27FC236}">
                <a16:creationId xmlns:a16="http://schemas.microsoft.com/office/drawing/2014/main" id="{C4902488-444C-4C0B-564B-200FF9087D76}"/>
              </a:ext>
            </a:extLst>
          </p:cNvPr>
          <p:cNvSpPr txBox="1"/>
          <p:nvPr/>
        </p:nvSpPr>
        <p:spPr>
          <a:xfrm>
            <a:off x="378567" y="4566627"/>
            <a:ext cx="4468667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1"/>
            <a:r>
              <a:rPr lang="es-ES_tradnl" sz="1400" dirty="0">
                <a:solidFill>
                  <a:srgbClr val="36424E"/>
                </a:solidFill>
                <a:latin typeface="Cambria"/>
              </a:rPr>
              <a:t>Convierte ambas inversas en tiempo polinómico – la dureza desaparece en un ordenador cuántico</a:t>
            </a:r>
            <a:endParaRPr lang="es-ES_tradnl" sz="1400" b="0" dirty="0">
              <a:solidFill>
                <a:srgbClr val="36424E"/>
              </a:solidFill>
              <a:latin typeface="Cambria"/>
            </a:endParaRPr>
          </a:p>
        </p:txBody>
      </p:sp>
      <p:pic>
        <p:nvPicPr>
          <p:cNvPr id="27" name="RSA-ECC">
            <a:extLst>
              <a:ext uri="{FF2B5EF4-FFF2-40B4-BE49-F238E27FC236}">
                <a16:creationId xmlns:a16="http://schemas.microsoft.com/office/drawing/2014/main" id="{8C856CC5-0DEF-1FFD-ED30-51A3EF80459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587" t="21143" r="5804" b="29783"/>
          <a:stretch>
            <a:fillRect/>
          </a:stretch>
        </p:blipFill>
        <p:spPr>
          <a:xfrm>
            <a:off x="760403" y="2714003"/>
            <a:ext cx="4434702" cy="1019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84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40DAF-4C24-CF0D-3E29-DEAAB7870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4BF8D4D-28C0-109D-7942-0085AF9BFD9B}"/>
              </a:ext>
            </a:extLst>
          </p:cNvPr>
          <p:cNvSpPr/>
          <p:nvPr/>
        </p:nvSpPr>
        <p:spPr>
          <a:xfrm>
            <a:off x="841248" y="457200"/>
            <a:ext cx="105091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_tradnl" sz="1150" b="1" kern="0" spc="300" dirty="0">
                <a:solidFill>
                  <a:srgbClr val="006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2 · </a:t>
            </a:r>
            <a:r>
              <a:rPr lang="es-ES_tradnl" sz="1150" b="1" spc="60" dirty="0">
                <a:solidFill>
                  <a:srgbClr val="0060AB"/>
                </a:solidFill>
              </a:rPr>
              <a:t>FUNDAMENTOS</a:t>
            </a:r>
            <a:endParaRPr lang="es-ES_tradnl" sz="1150" dirty="0"/>
          </a:p>
        </p:txBody>
      </p:sp>
      <p:pic>
        <p:nvPicPr>
          <p:cNvPr id="3" name="Image 0" descr="figs/uax_color.png">
            <a:extLst>
              <a:ext uri="{FF2B5EF4-FFF2-40B4-BE49-F238E27FC236}">
                <a16:creationId xmlns:a16="http://schemas.microsoft.com/office/drawing/2014/main" id="{38E40D69-35E4-A84B-23BF-39499B16C0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6854" y="164593"/>
            <a:ext cx="1932677" cy="749808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27AE2192-6AE8-6A85-117F-771787B90BDC}"/>
              </a:ext>
            </a:extLst>
          </p:cNvPr>
          <p:cNvSpPr/>
          <p:nvPr/>
        </p:nvSpPr>
        <p:spPr>
          <a:xfrm>
            <a:off x="841248" y="731520"/>
            <a:ext cx="1050919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_tradnl" sz="3000" b="1" dirty="0">
                <a:latin typeface="Cambria"/>
              </a:rPr>
              <a:t>Retículos: por qué importa la base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5F664AD9-CE3E-1BC5-1B5F-2D81ABB06FDA}"/>
              </a:ext>
            </a:extLst>
          </p:cNvPr>
          <p:cNvSpPr/>
          <p:nvPr/>
        </p:nvSpPr>
        <p:spPr>
          <a:xfrm>
            <a:off x="841248" y="1481328"/>
            <a:ext cx="10509199" cy="0"/>
          </a:xfrm>
          <a:prstGeom prst="line">
            <a:avLst/>
          </a:prstGeom>
          <a:noFill/>
          <a:ln w="12700">
            <a:solidFill>
              <a:srgbClr val="C8CFD4"/>
            </a:solidFill>
            <a:prstDash val="solid"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D0CD3EB1-1D44-8FF7-EDB2-82E1CD369BE6}"/>
              </a:ext>
            </a:extLst>
          </p:cNvPr>
          <p:cNvSpPr/>
          <p:nvPr/>
        </p:nvSpPr>
        <p:spPr>
          <a:xfrm>
            <a:off x="841248" y="6400800"/>
            <a:ext cx="10509199" cy="0"/>
          </a:xfrm>
          <a:prstGeom prst="line">
            <a:avLst/>
          </a:prstGeom>
          <a:noFill/>
          <a:ln w="9525">
            <a:solidFill>
              <a:srgbClr val="E7EBEE"/>
            </a:solidFill>
            <a:prstDash val="solid"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FAF7DD70-8908-FC2F-3AAB-CA6776B9A13F}"/>
              </a:ext>
            </a:extLst>
          </p:cNvPr>
          <p:cNvSpPr/>
          <p:nvPr/>
        </p:nvSpPr>
        <p:spPr>
          <a:xfrm>
            <a:off x="841248" y="645566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850" b="1" kern="0" spc="200" dirty="0">
                <a:solidFill>
                  <a:srgbClr val="AE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POSTCUÁNTICA · LEARNING WITH ERRORS</a:t>
            </a:r>
            <a:endParaRPr lang="es-ES_tradnl" sz="85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85D1B4A8-14BA-9173-21E0-4C3C6B5DBA6B}"/>
              </a:ext>
            </a:extLst>
          </p:cNvPr>
          <p:cNvSpPr/>
          <p:nvPr/>
        </p:nvSpPr>
        <p:spPr>
          <a:xfrm>
            <a:off x="9521647" y="64556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_tradnl" sz="850" b="0" dirty="0">
                <a:solidFill>
                  <a:srgbClr val="AEB6BD"/>
                </a:solidFill>
                <a:latin typeface="Calibri"/>
              </a:rPr>
              <a:t>0</a:t>
            </a:r>
            <a:r>
              <a:rPr lang="es-ES_tradnl" sz="850" dirty="0">
                <a:solidFill>
                  <a:srgbClr val="AEB6BD"/>
                </a:solidFill>
                <a:latin typeface="Calibri"/>
              </a:rPr>
              <a:t>2</a:t>
            </a:r>
            <a:r>
              <a:rPr lang="es-ES_tradnl" sz="850" b="0" dirty="0">
                <a:solidFill>
                  <a:srgbClr val="AEB6BD"/>
                </a:solidFill>
                <a:latin typeface="Calibri"/>
              </a:rPr>
              <a:t> / 13</a:t>
            </a:r>
            <a:endParaRPr lang="es-ES_tradnl" sz="850" dirty="0"/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B6EE39E1-E767-75FB-2EDD-9D6E57B1AAEA}"/>
              </a:ext>
            </a:extLst>
          </p:cNvPr>
          <p:cNvSpPr txBox="1"/>
          <p:nvPr/>
        </p:nvSpPr>
        <p:spPr>
          <a:xfrm>
            <a:off x="841248" y="2203704"/>
            <a:ext cx="4154498" cy="7198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es-ES_tradnl" sz="1350" b="0" i="0" dirty="0">
                <a:solidFill>
                  <a:srgbClr val="36424E"/>
                </a:solidFill>
                <a:latin typeface="Calibri"/>
              </a:rPr>
              <a:t>Combinaciones enteras de una base forman una </a:t>
            </a:r>
            <a:r>
              <a:rPr lang="es-ES_tradnl" sz="1350" b="1" i="0" dirty="0">
                <a:solidFill>
                  <a:srgbClr val="1B2430"/>
                </a:solidFill>
                <a:latin typeface="Calibri"/>
              </a:rPr>
              <a:t>malla discreta</a:t>
            </a:r>
            <a:r>
              <a:rPr lang="es-ES_tradnl" sz="1350" b="0" i="0" dirty="0">
                <a:solidFill>
                  <a:srgbClr val="36424E"/>
                </a:solidFill>
                <a:latin typeface="Calibri"/>
              </a:rPr>
              <a:t>. Su volumen es invariante: </a:t>
            </a:r>
            <a:r>
              <a:rPr lang="es-ES_tradnl" sz="1350" b="0" i="1" dirty="0">
                <a:solidFill>
                  <a:srgbClr val="36424E"/>
                </a:solidFill>
                <a:latin typeface="Calibri"/>
              </a:rPr>
              <a:t>no se puede acortar todo a la vez.</a:t>
            </a:r>
          </a:p>
        </p:txBody>
      </p:sp>
      <p:sp>
        <p:nvSpPr>
          <p:cNvPr id="7" name="Rounded Rectangle 9">
            <a:extLst>
              <a:ext uri="{FF2B5EF4-FFF2-40B4-BE49-F238E27FC236}">
                <a16:creationId xmlns:a16="http://schemas.microsoft.com/office/drawing/2014/main" id="{E4969310-6B12-2918-FB74-59FD641E876B}"/>
              </a:ext>
            </a:extLst>
          </p:cNvPr>
          <p:cNvSpPr/>
          <p:nvPr/>
        </p:nvSpPr>
        <p:spPr>
          <a:xfrm>
            <a:off x="841248" y="3201137"/>
            <a:ext cx="789355" cy="384048"/>
          </a:xfrm>
          <a:prstGeom prst="roundRect">
            <a:avLst>
              <a:gd name="adj" fmla="val 50000"/>
            </a:avLst>
          </a:prstGeom>
          <a:solidFill>
            <a:srgbClr val="DCE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s-ES_tradnl" dirty="0"/>
          </a:p>
        </p:txBody>
      </p:sp>
      <p:sp>
        <p:nvSpPr>
          <p:cNvPr id="8" name="TextBox 10">
            <a:extLst>
              <a:ext uri="{FF2B5EF4-FFF2-40B4-BE49-F238E27FC236}">
                <a16:creationId xmlns:a16="http://schemas.microsoft.com/office/drawing/2014/main" id="{44F57703-D5A3-C2C6-462C-6F8B2A1599B5}"/>
              </a:ext>
            </a:extLst>
          </p:cNvPr>
          <p:cNvSpPr txBox="1"/>
          <p:nvPr/>
        </p:nvSpPr>
        <p:spPr>
          <a:xfrm>
            <a:off x="841248" y="3312369"/>
            <a:ext cx="789355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s-ES_tradnl" sz="1050" b="1" i="0" spc="50" dirty="0">
                <a:solidFill>
                  <a:srgbClr val="0060AB"/>
                </a:solidFill>
                <a:latin typeface="Calibri"/>
              </a:rPr>
              <a:t>SVP</a:t>
            </a:r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551BCDCA-AB63-B9B3-48E0-480AADCDF2DA}"/>
              </a:ext>
            </a:extLst>
          </p:cNvPr>
          <p:cNvSpPr txBox="1"/>
          <p:nvPr/>
        </p:nvSpPr>
        <p:spPr>
          <a:xfrm>
            <a:off x="1676009" y="3303129"/>
            <a:ext cx="3074329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_tradnl" sz="1200" b="0" i="0" dirty="0">
                <a:solidFill>
                  <a:srgbClr val="36424E"/>
                </a:solidFill>
                <a:latin typeface="Calibri"/>
              </a:rPr>
              <a:t>el vector no nulo más corto del retículo.</a:t>
            </a:r>
          </a:p>
        </p:txBody>
      </p:sp>
      <p:sp>
        <p:nvSpPr>
          <p:cNvPr id="10" name="Rounded Rectangle 12">
            <a:extLst>
              <a:ext uri="{FF2B5EF4-FFF2-40B4-BE49-F238E27FC236}">
                <a16:creationId xmlns:a16="http://schemas.microsoft.com/office/drawing/2014/main" id="{88FD0DE7-42F0-66C5-BF9A-69B8A3CC066D}"/>
              </a:ext>
            </a:extLst>
          </p:cNvPr>
          <p:cNvSpPr/>
          <p:nvPr/>
        </p:nvSpPr>
        <p:spPr>
          <a:xfrm>
            <a:off x="841248" y="3768065"/>
            <a:ext cx="789355" cy="384048"/>
          </a:xfrm>
          <a:prstGeom prst="roundRect">
            <a:avLst>
              <a:gd name="adj" fmla="val 50000"/>
            </a:avLst>
          </a:prstGeom>
          <a:solidFill>
            <a:srgbClr val="DCE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s-ES_tradnl" dirty="0"/>
          </a:p>
        </p:txBody>
      </p:sp>
      <p:sp>
        <p:nvSpPr>
          <p:cNvPr id="11" name="TextBox 13">
            <a:extLst>
              <a:ext uri="{FF2B5EF4-FFF2-40B4-BE49-F238E27FC236}">
                <a16:creationId xmlns:a16="http://schemas.microsoft.com/office/drawing/2014/main" id="{DE8C3795-61D4-371C-E98B-94C8D0D33CDD}"/>
              </a:ext>
            </a:extLst>
          </p:cNvPr>
          <p:cNvSpPr txBox="1"/>
          <p:nvPr/>
        </p:nvSpPr>
        <p:spPr>
          <a:xfrm>
            <a:off x="841248" y="3879297"/>
            <a:ext cx="789355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s-ES_tradnl" sz="1050" b="1" i="0" spc="50" dirty="0">
                <a:solidFill>
                  <a:srgbClr val="0060AB"/>
                </a:solidFill>
                <a:latin typeface="Calibri"/>
              </a:rPr>
              <a:t>CVP</a:t>
            </a:r>
          </a:p>
        </p:txBody>
      </p:sp>
      <p:sp>
        <p:nvSpPr>
          <p:cNvPr id="12" name="TextBox 14">
            <a:extLst>
              <a:ext uri="{FF2B5EF4-FFF2-40B4-BE49-F238E27FC236}">
                <a16:creationId xmlns:a16="http://schemas.microsoft.com/office/drawing/2014/main" id="{2685CA2E-5B10-38A8-F965-6050190A81A8}"/>
              </a:ext>
            </a:extLst>
          </p:cNvPr>
          <p:cNvSpPr txBox="1"/>
          <p:nvPr/>
        </p:nvSpPr>
        <p:spPr>
          <a:xfrm>
            <a:off x="1676009" y="3870057"/>
            <a:ext cx="3600147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_tradnl" sz="1200" b="0" i="0" dirty="0">
                <a:solidFill>
                  <a:srgbClr val="36424E"/>
                </a:solidFill>
                <a:latin typeface="Calibri"/>
              </a:rPr>
              <a:t>el punto del retículo más cercano a un objetivo externo.</a:t>
            </a:r>
          </a:p>
        </p:txBody>
      </p:sp>
      <p:sp>
        <p:nvSpPr>
          <p:cNvPr id="13" name="TextBox 15">
            <a:extLst>
              <a:ext uri="{FF2B5EF4-FFF2-40B4-BE49-F238E27FC236}">
                <a16:creationId xmlns:a16="http://schemas.microsoft.com/office/drawing/2014/main" id="{63C4B84F-DC41-3B31-5A05-0CEC8DAFDA08}"/>
              </a:ext>
            </a:extLst>
          </p:cNvPr>
          <p:cNvSpPr txBox="1"/>
          <p:nvPr/>
        </p:nvSpPr>
        <p:spPr>
          <a:xfrm>
            <a:off x="841248" y="4472153"/>
            <a:ext cx="4154498" cy="4294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999"/>
              </a:lnSpc>
            </a:pPr>
            <a:r>
              <a:rPr lang="es-ES_tradnl" sz="1250" b="0" i="0" dirty="0">
                <a:solidFill>
                  <a:srgbClr val="36424E"/>
                </a:solidFill>
                <a:latin typeface="Calibri"/>
              </a:rPr>
              <a:t>En dimensión alta son difíciles. </a:t>
            </a:r>
            <a:r>
              <a:rPr lang="es-ES_tradnl" sz="1250" b="1" i="0" dirty="0">
                <a:solidFill>
                  <a:srgbClr val="1B2430"/>
                </a:solidFill>
                <a:latin typeface="Calibri"/>
              </a:rPr>
              <a:t>LLL y BKZ</a:t>
            </a:r>
            <a:r>
              <a:rPr lang="es-ES_tradnl" sz="1250" b="0" i="0" dirty="0">
                <a:solidFill>
                  <a:srgbClr val="36424E"/>
                </a:solidFill>
                <a:latin typeface="Calibri"/>
              </a:rPr>
              <a:t> son los mejores ataques; el bloque β mide la seguridad.</a:t>
            </a:r>
          </a:p>
        </p:txBody>
      </p:sp>
      <p:cxnSp>
        <p:nvCxnSpPr>
          <p:cNvPr id="14" name="Connector 16">
            <a:extLst>
              <a:ext uri="{FF2B5EF4-FFF2-40B4-BE49-F238E27FC236}">
                <a16:creationId xmlns:a16="http://schemas.microsoft.com/office/drawing/2014/main" id="{A16D96D2-5F32-3A88-942A-4B7599546F1E}"/>
              </a:ext>
            </a:extLst>
          </p:cNvPr>
          <p:cNvCxnSpPr/>
          <p:nvPr/>
        </p:nvCxnSpPr>
        <p:spPr>
          <a:xfrm>
            <a:off x="5321563" y="1819735"/>
            <a:ext cx="0" cy="3794760"/>
          </a:xfrm>
          <a:prstGeom prst="bentConnector3">
            <a:avLst/>
          </a:prstGeom>
          <a:ln w="12700">
            <a:solidFill>
              <a:srgbClr val="C8CF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7">
            <a:extLst>
              <a:ext uri="{FF2B5EF4-FFF2-40B4-BE49-F238E27FC236}">
                <a16:creationId xmlns:a16="http://schemas.microsoft.com/office/drawing/2014/main" id="{1EDE97CB-7243-1021-9D3C-60105D53724D}"/>
              </a:ext>
            </a:extLst>
          </p:cNvPr>
          <p:cNvSpPr txBox="1"/>
          <p:nvPr/>
        </p:nvSpPr>
        <p:spPr>
          <a:xfrm>
            <a:off x="5650746" y="2035329"/>
            <a:ext cx="50292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_tradnl" sz="1050" b="1" i="0" spc="80" dirty="0">
                <a:solidFill>
                  <a:srgbClr val="6C7681"/>
                </a:solidFill>
                <a:latin typeface="Calibri"/>
              </a:rPr>
              <a:t>LA MISMA MALLA, DISTINTA BASE</a:t>
            </a:r>
          </a:p>
        </p:txBody>
      </p:sp>
      <p:sp>
        <p:nvSpPr>
          <p:cNvPr id="16" name="TextBox 18">
            <a:extLst>
              <a:ext uri="{FF2B5EF4-FFF2-40B4-BE49-F238E27FC236}">
                <a16:creationId xmlns:a16="http://schemas.microsoft.com/office/drawing/2014/main" id="{57C164BD-4AF5-8234-E952-789FAF18B12A}"/>
              </a:ext>
            </a:extLst>
          </p:cNvPr>
          <p:cNvSpPr txBox="1"/>
          <p:nvPr/>
        </p:nvSpPr>
        <p:spPr>
          <a:xfrm>
            <a:off x="5650746" y="2241795"/>
            <a:ext cx="23774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_tradnl" sz="1400" b="1" i="0" dirty="0">
                <a:solidFill>
                  <a:srgbClr val="0060AB"/>
                </a:solidFill>
                <a:latin typeface="Calibri"/>
              </a:rPr>
              <a:t>BASE BUENA  </a:t>
            </a:r>
            <a:r>
              <a:rPr lang="es-ES_tradnl" sz="1400" b="0" i="1" dirty="0">
                <a:solidFill>
                  <a:srgbClr val="6C7681"/>
                </a:solidFill>
                <a:latin typeface="Calibri"/>
              </a:rPr>
              <a:t>· privada</a:t>
            </a:r>
          </a:p>
        </p:txBody>
      </p:sp>
      <p:pic>
        <p:nvPicPr>
          <p:cNvPr id="20" name="Picture 19" descr="base_good.png">
            <a:extLst>
              <a:ext uri="{FF2B5EF4-FFF2-40B4-BE49-F238E27FC236}">
                <a16:creationId xmlns:a16="http://schemas.microsoft.com/office/drawing/2014/main" id="{7252FE42-8A3F-DB5D-81D5-7A4EE7ABE7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6918" y="2521246"/>
            <a:ext cx="2693020" cy="269302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BA4DDF73-906B-D06B-4C9E-1B809C7283F7}"/>
              </a:ext>
            </a:extLst>
          </p:cNvPr>
          <p:cNvSpPr txBox="1"/>
          <p:nvPr/>
        </p:nvSpPr>
        <p:spPr>
          <a:xfrm>
            <a:off x="8473900" y="2241795"/>
            <a:ext cx="23774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_tradnl" sz="1400" b="1" i="0" dirty="0">
                <a:solidFill>
                  <a:srgbClr val="9A3B2E"/>
                </a:solidFill>
                <a:latin typeface="Calibri"/>
              </a:rPr>
              <a:t>BASE MALA  </a:t>
            </a:r>
            <a:r>
              <a:rPr lang="es-ES_tradnl" sz="1400" b="0" i="1" dirty="0">
                <a:solidFill>
                  <a:srgbClr val="6C7681"/>
                </a:solidFill>
                <a:latin typeface="Calibri"/>
              </a:rPr>
              <a:t>· pública</a:t>
            </a:r>
          </a:p>
        </p:txBody>
      </p:sp>
      <p:pic>
        <p:nvPicPr>
          <p:cNvPr id="22" name="Picture 21" descr="base_bad.png">
            <a:extLst>
              <a:ext uri="{FF2B5EF4-FFF2-40B4-BE49-F238E27FC236}">
                <a16:creationId xmlns:a16="http://schemas.microsoft.com/office/drawing/2014/main" id="{8266EB7C-0507-5F84-DD9F-411423EF23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3900" y="2521246"/>
            <a:ext cx="2693020" cy="269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940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D6748-D64B-EEC2-A894-F935BA2D3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70ECE3D-336F-A6C6-55F2-75FF66209D22}"/>
              </a:ext>
            </a:extLst>
          </p:cNvPr>
          <p:cNvSpPr/>
          <p:nvPr/>
        </p:nvSpPr>
        <p:spPr>
          <a:xfrm>
            <a:off x="841248" y="457200"/>
            <a:ext cx="105091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_tradnl" sz="1150" b="1" kern="0" spc="300" dirty="0">
                <a:solidFill>
                  <a:srgbClr val="006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 · LEARNING WITH ERRORS</a:t>
            </a:r>
            <a:endParaRPr lang="es-ES_tradnl" sz="1150" dirty="0"/>
          </a:p>
        </p:txBody>
      </p:sp>
      <p:pic>
        <p:nvPicPr>
          <p:cNvPr id="3" name="Image 0" descr="figs/uax_color.png">
            <a:extLst>
              <a:ext uri="{FF2B5EF4-FFF2-40B4-BE49-F238E27FC236}">
                <a16:creationId xmlns:a16="http://schemas.microsoft.com/office/drawing/2014/main" id="{FC1D59A1-F06B-F1C3-6A6D-5C90126362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6854" y="164593"/>
            <a:ext cx="1932677" cy="749808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41EE0C82-9D2D-B948-26FF-8759FE81F4C8}"/>
              </a:ext>
            </a:extLst>
          </p:cNvPr>
          <p:cNvSpPr/>
          <p:nvPr/>
        </p:nvSpPr>
        <p:spPr>
          <a:xfrm>
            <a:off x="841248" y="731520"/>
            <a:ext cx="1050919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_tradnl" sz="3000" b="1" dirty="0">
                <a:latin typeface="Cambria"/>
              </a:rPr>
              <a:t>LWE: un sistema lineal con ruido — búsqueda y decisión</a:t>
            </a:r>
            <a:endParaRPr lang="es-ES_tradnl" sz="30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297DBD7A-7C18-64CF-9025-9EB1E110ABE4}"/>
              </a:ext>
            </a:extLst>
          </p:cNvPr>
          <p:cNvSpPr/>
          <p:nvPr/>
        </p:nvSpPr>
        <p:spPr>
          <a:xfrm>
            <a:off x="841248" y="1481328"/>
            <a:ext cx="10509199" cy="0"/>
          </a:xfrm>
          <a:prstGeom prst="line">
            <a:avLst/>
          </a:prstGeom>
          <a:noFill/>
          <a:ln w="12700">
            <a:solidFill>
              <a:srgbClr val="C8CFD4"/>
            </a:solidFill>
            <a:prstDash val="solid"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D5357ADC-F9CB-1352-4AE4-46906F97BF5A}"/>
              </a:ext>
            </a:extLst>
          </p:cNvPr>
          <p:cNvSpPr/>
          <p:nvPr/>
        </p:nvSpPr>
        <p:spPr>
          <a:xfrm>
            <a:off x="841248" y="6400800"/>
            <a:ext cx="10509199" cy="0"/>
          </a:xfrm>
          <a:prstGeom prst="line">
            <a:avLst/>
          </a:prstGeom>
          <a:noFill/>
          <a:ln w="9525">
            <a:solidFill>
              <a:srgbClr val="E7EBEE"/>
            </a:solidFill>
            <a:prstDash val="solid"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C117EA41-DB23-2751-920C-1CB5BD84DEC2}"/>
              </a:ext>
            </a:extLst>
          </p:cNvPr>
          <p:cNvSpPr/>
          <p:nvPr/>
        </p:nvSpPr>
        <p:spPr>
          <a:xfrm>
            <a:off x="841248" y="645566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850" b="1" kern="0" spc="200" dirty="0">
                <a:solidFill>
                  <a:srgbClr val="AE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POSTCUÁNTICA · LEARNING WITH ERRORS</a:t>
            </a:r>
            <a:endParaRPr lang="es-ES_tradnl" sz="85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C5A5AAE6-5A2D-BD7B-082C-E0B442F63993}"/>
              </a:ext>
            </a:extLst>
          </p:cNvPr>
          <p:cNvSpPr/>
          <p:nvPr/>
        </p:nvSpPr>
        <p:spPr>
          <a:xfrm>
            <a:off x="9521647" y="64556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_tradnl" sz="850" b="0" dirty="0">
                <a:solidFill>
                  <a:srgbClr val="AEB6BD"/>
                </a:solidFill>
                <a:latin typeface="Calibri"/>
              </a:rPr>
              <a:t>0</a:t>
            </a:r>
            <a:r>
              <a:rPr lang="es-ES_tradnl" sz="850" dirty="0">
                <a:solidFill>
                  <a:srgbClr val="AEB6BD"/>
                </a:solidFill>
                <a:latin typeface="Calibri"/>
              </a:rPr>
              <a:t>3</a:t>
            </a:r>
            <a:r>
              <a:rPr lang="es-ES_tradnl" sz="850" b="0" dirty="0">
                <a:solidFill>
                  <a:srgbClr val="AEB6BD"/>
                </a:solidFill>
                <a:latin typeface="Calibri"/>
              </a:rPr>
              <a:t> / 13</a:t>
            </a:r>
            <a:endParaRPr lang="es-ES_tradnl" sz="850" dirty="0"/>
          </a:p>
        </p:txBody>
      </p:sp>
      <p:sp>
        <p:nvSpPr>
          <p:cNvPr id="6" name="Shape 7">
            <a:extLst>
              <a:ext uri="{FF2B5EF4-FFF2-40B4-BE49-F238E27FC236}">
                <a16:creationId xmlns:a16="http://schemas.microsoft.com/office/drawing/2014/main" id="{E1B6A47E-7879-A52A-D203-9C2ADF528BE5}"/>
              </a:ext>
            </a:extLst>
          </p:cNvPr>
          <p:cNvSpPr/>
          <p:nvPr/>
        </p:nvSpPr>
        <p:spPr>
          <a:xfrm>
            <a:off x="7300381" y="4710419"/>
            <a:ext cx="2462415" cy="1303797"/>
          </a:xfrm>
          <a:prstGeom prst="rect">
            <a:avLst/>
          </a:prstGeom>
          <a:solidFill>
            <a:srgbClr val="FFFFFF"/>
          </a:solidFill>
          <a:ln w="9525">
            <a:solidFill>
              <a:srgbClr val="C8CFD4"/>
            </a:solidFill>
            <a:prstDash val="solid"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0A7DEF08-F500-F43B-C0A5-441398C8BDD3}"/>
              </a:ext>
            </a:extLst>
          </p:cNvPr>
          <p:cNvSpPr/>
          <p:nvPr/>
        </p:nvSpPr>
        <p:spPr>
          <a:xfrm>
            <a:off x="2045763" y="4704245"/>
            <a:ext cx="2462415" cy="1303797"/>
          </a:xfrm>
          <a:prstGeom prst="rect">
            <a:avLst/>
          </a:prstGeom>
          <a:solidFill>
            <a:srgbClr val="FFFFFF"/>
          </a:solidFill>
          <a:ln w="9525">
            <a:solidFill>
              <a:srgbClr val="C8CFD4"/>
            </a:solidFill>
            <a:prstDash val="solid"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8" name="Rectangle 19">
            <a:extLst>
              <a:ext uri="{FF2B5EF4-FFF2-40B4-BE49-F238E27FC236}">
                <a16:creationId xmlns:a16="http://schemas.microsoft.com/office/drawing/2014/main" id="{73D3FE9C-3A1C-3AFD-5F79-8B9897C25C0C}"/>
              </a:ext>
            </a:extLst>
          </p:cNvPr>
          <p:cNvSpPr/>
          <p:nvPr/>
        </p:nvSpPr>
        <p:spPr>
          <a:xfrm>
            <a:off x="842619" y="4325089"/>
            <a:ext cx="10506456" cy="9144"/>
          </a:xfrm>
          <a:prstGeom prst="rect">
            <a:avLst/>
          </a:prstGeom>
          <a:solidFill>
            <a:srgbClr val="D8D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9" name="Rectangle 20">
            <a:extLst>
              <a:ext uri="{FF2B5EF4-FFF2-40B4-BE49-F238E27FC236}">
                <a16:creationId xmlns:a16="http://schemas.microsoft.com/office/drawing/2014/main" id="{89990F53-A500-DD09-1C60-74220C659D48}"/>
              </a:ext>
            </a:extLst>
          </p:cNvPr>
          <p:cNvSpPr/>
          <p:nvPr/>
        </p:nvSpPr>
        <p:spPr>
          <a:xfrm>
            <a:off x="5885077" y="4709160"/>
            <a:ext cx="12801" cy="1417320"/>
          </a:xfrm>
          <a:prstGeom prst="rect">
            <a:avLst/>
          </a:prstGeom>
          <a:solidFill>
            <a:srgbClr val="D8D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7F1FC417-0F4C-1C44-3F49-6C84DA7C1E17}"/>
              </a:ext>
            </a:extLst>
          </p:cNvPr>
          <p:cNvSpPr/>
          <p:nvPr/>
        </p:nvSpPr>
        <p:spPr>
          <a:xfrm>
            <a:off x="1607684" y="4402493"/>
            <a:ext cx="39884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_tradnl" sz="1100" b="1" kern="0" spc="200" dirty="0">
                <a:solidFill>
                  <a:srgbClr val="006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SEARCH-LWE</a:t>
            </a:r>
            <a:endParaRPr lang="es-ES_tradnl" sz="110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39B82048-DAA8-3BBE-C64E-F2A3CB63E215}"/>
              </a:ext>
            </a:extLst>
          </p:cNvPr>
          <p:cNvSpPr/>
          <p:nvPr/>
        </p:nvSpPr>
        <p:spPr>
          <a:xfrm>
            <a:off x="850108" y="2811227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1700"/>
              </a:lnSpc>
              <a:buNone/>
            </a:pPr>
            <a:r>
              <a:rPr lang="es-ES_tradnl" sz="1200" b="1" dirty="0">
                <a:solidFill>
                  <a:srgbClr val="6C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RUIDO  </a:t>
            </a:r>
            <a:r>
              <a:rPr lang="es-ES_tradnl" sz="1200" dirty="0">
                <a:solidFill>
                  <a:srgbClr val="6C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 = 0)</a:t>
            </a:r>
            <a:endParaRPr lang="es-ES_tradnl" sz="1200" dirty="0"/>
          </a:p>
          <a:p>
            <a:pPr marL="0" indent="0" algn="r">
              <a:lnSpc>
                <a:spcPts val="1700"/>
              </a:lnSpc>
              <a:buNone/>
            </a:pPr>
            <a:r>
              <a:rPr lang="es-ES_tradnl" sz="1300" dirty="0">
                <a:solidFill>
                  <a:srgbClr val="36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álgebra lineal resoluble en tiempo polinómico</a:t>
            </a:r>
            <a:endParaRPr lang="es-ES_tradnl" sz="1200" dirty="0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C4B0E75A-B6DD-AEBA-6047-292E3357D096}"/>
              </a:ext>
            </a:extLst>
          </p:cNvPr>
          <p:cNvSpPr/>
          <p:nvPr/>
        </p:nvSpPr>
        <p:spPr>
          <a:xfrm>
            <a:off x="6546820" y="2811227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700"/>
              </a:lnSpc>
              <a:buNone/>
            </a:pPr>
            <a:r>
              <a:rPr lang="es-ES_tradnl" sz="1200" b="1" dirty="0">
                <a:solidFill>
                  <a:srgbClr val="006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RUIDO  </a:t>
            </a:r>
            <a:r>
              <a:rPr lang="es-ES_tradnl" sz="1200" dirty="0">
                <a:solidFill>
                  <a:srgbClr val="006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 ≠ 0)</a:t>
            </a:r>
            <a:endParaRPr lang="es-ES_tradnl" sz="1200" dirty="0"/>
          </a:p>
          <a:p>
            <a:pPr marL="0" indent="0" algn="l">
              <a:lnSpc>
                <a:spcPts val="1700"/>
              </a:lnSpc>
              <a:buNone/>
            </a:pPr>
            <a:r>
              <a:rPr lang="es-ES_tradnl" sz="1300" dirty="0">
                <a:solidFill>
                  <a:srgbClr val="36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algoritmo eficiente, clásico ni cuántico</a:t>
            </a:r>
            <a:endParaRPr lang="es-ES_tradnl" sz="12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DFC939A7-F9DE-D1DC-FADD-CCA493C4508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067" t="26693" r="12734" b="20157"/>
          <a:stretch>
            <a:fillRect/>
          </a:stretch>
        </p:blipFill>
        <p:spPr>
          <a:xfrm>
            <a:off x="7338649" y="4757683"/>
            <a:ext cx="2385878" cy="1209267"/>
          </a:xfrm>
          <a:prstGeom prst="rect">
            <a:avLst/>
          </a:prstGeom>
        </p:spPr>
      </p:pic>
      <p:sp>
        <p:nvSpPr>
          <p:cNvPr id="14" name="Text 7">
            <a:extLst>
              <a:ext uri="{FF2B5EF4-FFF2-40B4-BE49-F238E27FC236}">
                <a16:creationId xmlns:a16="http://schemas.microsoft.com/office/drawing/2014/main" id="{F9C6193F-D8F1-7E17-B9E9-A572A152D0FE}"/>
              </a:ext>
            </a:extLst>
          </p:cNvPr>
          <p:cNvSpPr/>
          <p:nvPr/>
        </p:nvSpPr>
        <p:spPr>
          <a:xfrm>
            <a:off x="6790025" y="4400473"/>
            <a:ext cx="4246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_tradnl" sz="1100" b="1" kern="0" spc="200" dirty="0">
                <a:solidFill>
                  <a:srgbClr val="006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DECISION-LWE</a:t>
            </a:r>
            <a:endParaRPr lang="es-ES_tradnl" sz="11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761D1D1F-AB47-1CD5-2237-19C2D3A1AC7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5531" t="49421" r="36061" b="16743"/>
          <a:stretch>
            <a:fillRect/>
          </a:stretch>
        </p:blipFill>
        <p:spPr>
          <a:xfrm>
            <a:off x="2045764" y="4745073"/>
            <a:ext cx="2462416" cy="1217832"/>
          </a:xfrm>
          <a:prstGeom prst="rect">
            <a:avLst/>
          </a:prstGeom>
        </p:spPr>
      </p:pic>
      <p:sp>
        <p:nvSpPr>
          <p:cNvPr id="16" name="TextBox 9">
            <a:extLst>
              <a:ext uri="{FF2B5EF4-FFF2-40B4-BE49-F238E27FC236}">
                <a16:creationId xmlns:a16="http://schemas.microsoft.com/office/drawing/2014/main" id="{0CA83BFC-F291-409F-2912-D795BB5BD6FF}"/>
              </a:ext>
            </a:extLst>
          </p:cNvPr>
          <p:cNvSpPr txBox="1"/>
          <p:nvPr/>
        </p:nvSpPr>
        <p:spPr>
          <a:xfrm>
            <a:off x="835436" y="1572769"/>
            <a:ext cx="10506456" cy="1417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s-ES_tradnl" sz="4600" b="1" i="1" dirty="0">
                <a:solidFill>
                  <a:srgbClr val="0060AB"/>
                </a:solidFill>
                <a:latin typeface="Cambria"/>
              </a:rPr>
              <a:t>b</a:t>
            </a:r>
            <a:r>
              <a:rPr lang="es-ES_tradnl" sz="4600" b="0" i="0" dirty="0">
                <a:solidFill>
                  <a:srgbClr val="1B2430"/>
                </a:solidFill>
                <a:latin typeface="Cambria"/>
              </a:rPr>
              <a:t>  =  </a:t>
            </a:r>
            <a:r>
              <a:rPr lang="es-ES_tradnl" sz="4600" b="1" i="1" dirty="0">
                <a:solidFill>
                  <a:srgbClr val="1B2430"/>
                </a:solidFill>
                <a:latin typeface="Cambria"/>
              </a:rPr>
              <a:t>A</a:t>
            </a:r>
            <a:r>
              <a:rPr lang="es-ES_tradnl" sz="4600" b="0" i="0" dirty="0">
                <a:solidFill>
                  <a:srgbClr val="1B2430"/>
                </a:solidFill>
                <a:latin typeface="Cambria"/>
              </a:rPr>
              <a:t>·</a:t>
            </a:r>
            <a:r>
              <a:rPr lang="es-ES_tradnl" sz="4600" b="1" i="1" dirty="0">
                <a:solidFill>
                  <a:srgbClr val="1B2430"/>
                </a:solidFill>
                <a:latin typeface="Cambria"/>
              </a:rPr>
              <a:t>s</a:t>
            </a:r>
            <a:r>
              <a:rPr lang="es-ES_tradnl" sz="4600" b="0" i="0" dirty="0">
                <a:solidFill>
                  <a:srgbClr val="1B2430"/>
                </a:solidFill>
                <a:latin typeface="Cambria"/>
              </a:rPr>
              <a:t>  +  </a:t>
            </a:r>
            <a:r>
              <a:rPr lang="es-ES_tradnl" sz="4600" b="1" i="1" dirty="0">
                <a:solidFill>
                  <a:srgbClr val="9A3B2E"/>
                </a:solidFill>
                <a:latin typeface="Cambria"/>
              </a:rPr>
              <a:t>e</a:t>
            </a:r>
            <a:r>
              <a:rPr lang="es-ES_tradnl" sz="2200" b="0" i="1" dirty="0">
                <a:solidFill>
                  <a:srgbClr val="6C7681"/>
                </a:solidFill>
                <a:latin typeface="Cambria"/>
              </a:rPr>
              <a:t>     (mod q)</a:t>
            </a:r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AEC78720-FCEF-118E-1E8C-F5D59F37B3B7}"/>
              </a:ext>
            </a:extLst>
          </p:cNvPr>
          <p:cNvSpPr/>
          <p:nvPr/>
        </p:nvSpPr>
        <p:spPr>
          <a:xfrm>
            <a:off x="305" y="3614622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1300" b="1" dirty="0">
                <a:solidFill>
                  <a:srgbClr val="0060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r>
              <a:rPr lang="es-ES_tradnl" sz="1300" dirty="0">
                <a:solidFill>
                  <a:srgbClr val="6C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dimensión → seguridad        </a:t>
            </a:r>
            <a:r>
              <a:rPr lang="es-ES_tradnl" sz="1300" b="1" dirty="0">
                <a:solidFill>
                  <a:srgbClr val="0060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r>
              <a:rPr lang="es-ES_tradnl" sz="1300" dirty="0">
                <a:solidFill>
                  <a:srgbClr val="6C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módulo → escala        </a:t>
            </a:r>
            <a:r>
              <a:rPr lang="es-ES_tradnl" sz="1300" b="1" dirty="0">
                <a:solidFill>
                  <a:srgbClr val="0060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</a:t>
            </a:r>
            <a:r>
              <a:rPr lang="es-ES_tradnl" sz="1300" dirty="0">
                <a:solidFill>
                  <a:srgbClr val="6C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intensidad del ruido</a:t>
            </a:r>
            <a:endParaRPr lang="es-ES_tradnl" sz="1300" dirty="0"/>
          </a:p>
        </p:txBody>
      </p:sp>
    </p:spTree>
    <p:extLst>
      <p:ext uri="{BB962C8B-B14F-4D97-AF65-F5344CB8AC3E}">
        <p14:creationId xmlns:p14="http://schemas.microsoft.com/office/powerpoint/2010/main" val="672147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8930C-11FA-DDBB-F734-C9F42EA77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9CFED35-06E3-564B-C0FB-E4F89E4F6B4D}"/>
              </a:ext>
            </a:extLst>
          </p:cNvPr>
          <p:cNvSpPr/>
          <p:nvPr/>
        </p:nvSpPr>
        <p:spPr>
          <a:xfrm>
            <a:off x="841248" y="457200"/>
            <a:ext cx="105091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_tradnl" sz="1150" b="1" kern="0" spc="300" dirty="0">
                <a:solidFill>
                  <a:srgbClr val="006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3 · </a:t>
            </a:r>
            <a:r>
              <a:rPr lang="es-ES_tradnl" sz="1200" b="1" spc="220" dirty="0">
                <a:solidFill>
                  <a:srgbClr val="0060AB"/>
                </a:solidFill>
              </a:rPr>
              <a:t>LEARNING WITH ERRORS</a:t>
            </a:r>
            <a:endParaRPr lang="es-ES_tradnl" sz="1150" dirty="0"/>
          </a:p>
        </p:txBody>
      </p:sp>
      <p:pic>
        <p:nvPicPr>
          <p:cNvPr id="3" name="Image 0" descr="figs/uax_color.png">
            <a:extLst>
              <a:ext uri="{FF2B5EF4-FFF2-40B4-BE49-F238E27FC236}">
                <a16:creationId xmlns:a16="http://schemas.microsoft.com/office/drawing/2014/main" id="{926A37F4-0B20-3BB0-F74E-10384F9B84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6854" y="164593"/>
            <a:ext cx="1932677" cy="749808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BDF8402D-AA3D-41F3-C28F-6F37A56498BA}"/>
              </a:ext>
            </a:extLst>
          </p:cNvPr>
          <p:cNvSpPr/>
          <p:nvPr/>
        </p:nvSpPr>
        <p:spPr>
          <a:xfrm>
            <a:off x="841248" y="731520"/>
            <a:ext cx="1050919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_tradnl" sz="3000" b="1" dirty="0">
                <a:latin typeface="Cambria"/>
              </a:rPr>
              <a:t>Interpretación geométrica: recuperar es CVP / BDD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92392CEB-7714-95EE-5322-1F6582534A75}"/>
              </a:ext>
            </a:extLst>
          </p:cNvPr>
          <p:cNvSpPr/>
          <p:nvPr/>
        </p:nvSpPr>
        <p:spPr>
          <a:xfrm>
            <a:off x="841248" y="1481328"/>
            <a:ext cx="10509199" cy="0"/>
          </a:xfrm>
          <a:prstGeom prst="line">
            <a:avLst/>
          </a:prstGeom>
          <a:noFill/>
          <a:ln w="12700">
            <a:solidFill>
              <a:srgbClr val="C8CFD4"/>
            </a:solidFill>
            <a:prstDash val="solid"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19DE4EF3-D965-EC6D-783E-3C2BBAEAA4F6}"/>
              </a:ext>
            </a:extLst>
          </p:cNvPr>
          <p:cNvSpPr/>
          <p:nvPr/>
        </p:nvSpPr>
        <p:spPr>
          <a:xfrm>
            <a:off x="841248" y="6400800"/>
            <a:ext cx="10509199" cy="0"/>
          </a:xfrm>
          <a:prstGeom prst="line">
            <a:avLst/>
          </a:prstGeom>
          <a:noFill/>
          <a:ln w="9525">
            <a:solidFill>
              <a:srgbClr val="E7EBEE"/>
            </a:solidFill>
            <a:prstDash val="solid"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60B8A751-09B7-D5AA-421C-C8A7730B450D}"/>
              </a:ext>
            </a:extLst>
          </p:cNvPr>
          <p:cNvSpPr/>
          <p:nvPr/>
        </p:nvSpPr>
        <p:spPr>
          <a:xfrm>
            <a:off x="841248" y="645566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850" b="1" kern="0" spc="200" dirty="0">
                <a:solidFill>
                  <a:srgbClr val="AE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POSTCUÁNTICA · LEARNING WITH ERRORS</a:t>
            </a:r>
            <a:endParaRPr lang="es-ES_tradnl" sz="85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6B4F9B8E-0442-C47E-05E6-73BBE5728D35}"/>
              </a:ext>
            </a:extLst>
          </p:cNvPr>
          <p:cNvSpPr/>
          <p:nvPr/>
        </p:nvSpPr>
        <p:spPr>
          <a:xfrm>
            <a:off x="9521647" y="64556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_tradnl" sz="850" b="0" dirty="0">
                <a:solidFill>
                  <a:srgbClr val="AEB6BD"/>
                </a:solidFill>
                <a:latin typeface="Calibri"/>
              </a:rPr>
              <a:t>0</a:t>
            </a:r>
            <a:r>
              <a:rPr lang="es-ES_tradnl" sz="850" dirty="0">
                <a:solidFill>
                  <a:srgbClr val="AEB6BD"/>
                </a:solidFill>
                <a:latin typeface="Calibri"/>
              </a:rPr>
              <a:t>4</a:t>
            </a:r>
            <a:r>
              <a:rPr lang="es-ES_tradnl" sz="850" b="0" dirty="0">
                <a:solidFill>
                  <a:srgbClr val="AEB6BD"/>
                </a:solidFill>
                <a:latin typeface="Calibri"/>
              </a:rPr>
              <a:t> / 13</a:t>
            </a:r>
            <a:endParaRPr lang="es-ES_tradnl" sz="850" dirty="0"/>
          </a:p>
        </p:txBody>
      </p:sp>
      <p:sp>
        <p:nvSpPr>
          <p:cNvPr id="6" name="TextBox 42">
            <a:extLst>
              <a:ext uri="{FF2B5EF4-FFF2-40B4-BE49-F238E27FC236}">
                <a16:creationId xmlns:a16="http://schemas.microsoft.com/office/drawing/2014/main" id="{029F1A2C-36E5-448E-98C6-F6A869D01477}"/>
              </a:ext>
            </a:extLst>
          </p:cNvPr>
          <p:cNvSpPr txBox="1"/>
          <p:nvPr/>
        </p:nvSpPr>
        <p:spPr>
          <a:xfrm>
            <a:off x="6384810" y="2120038"/>
            <a:ext cx="5179006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_tradnl" b="1" i="0" dirty="0">
                <a:solidFill>
                  <a:srgbClr val="1B2430"/>
                </a:solidFill>
                <a:latin typeface="Calibri"/>
              </a:rPr>
              <a:t>Punto válido</a:t>
            </a:r>
          </a:p>
        </p:txBody>
      </p:sp>
      <p:sp>
        <p:nvSpPr>
          <p:cNvPr id="7" name="TextBox 43">
            <a:extLst>
              <a:ext uri="{FF2B5EF4-FFF2-40B4-BE49-F238E27FC236}">
                <a16:creationId xmlns:a16="http://schemas.microsoft.com/office/drawing/2014/main" id="{2602C53F-9319-8D82-BCF4-976DF28B5DCC}"/>
              </a:ext>
            </a:extLst>
          </p:cNvPr>
          <p:cNvSpPr txBox="1"/>
          <p:nvPr/>
        </p:nvSpPr>
        <p:spPr>
          <a:xfrm>
            <a:off x="6384810" y="2456805"/>
            <a:ext cx="5179006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_tradnl" sz="1350" b="0" i="0" dirty="0">
                <a:solidFill>
                  <a:srgbClr val="36424E"/>
                </a:solidFill>
                <a:latin typeface="Calibri"/>
              </a:rPr>
              <a:t>Las soluciones exactas </a:t>
            </a:r>
            <a:r>
              <a:rPr lang="es-ES_tradnl" sz="1350" b="1" i="0" dirty="0">
                <a:solidFill>
                  <a:srgbClr val="36424E"/>
                </a:solidFill>
                <a:latin typeface="Courier New"/>
              </a:rPr>
              <a:t>b = A·s (mod q)</a:t>
            </a:r>
            <a:r>
              <a:rPr lang="es-ES_tradnl" sz="1350" b="0" i="0" dirty="0">
                <a:solidFill>
                  <a:srgbClr val="36424E"/>
                </a:solidFill>
                <a:latin typeface="Calibri"/>
              </a:rPr>
              <a:t> forman un retículo q‑ario.</a:t>
            </a:r>
          </a:p>
        </p:txBody>
      </p:sp>
      <p:sp>
        <p:nvSpPr>
          <p:cNvPr id="8" name="TextBox 45">
            <a:extLst>
              <a:ext uri="{FF2B5EF4-FFF2-40B4-BE49-F238E27FC236}">
                <a16:creationId xmlns:a16="http://schemas.microsoft.com/office/drawing/2014/main" id="{14CA1C98-41A3-9023-5A67-4100BCA2938C}"/>
              </a:ext>
            </a:extLst>
          </p:cNvPr>
          <p:cNvSpPr txBox="1"/>
          <p:nvPr/>
        </p:nvSpPr>
        <p:spPr>
          <a:xfrm>
            <a:off x="6384810" y="3356542"/>
            <a:ext cx="5179006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_tradnl" b="1" i="0" dirty="0">
                <a:solidFill>
                  <a:srgbClr val="1B2430"/>
                </a:solidFill>
                <a:latin typeface="Calibri"/>
              </a:rPr>
              <a:t>Desplazamiento por error</a:t>
            </a:r>
          </a:p>
        </p:txBody>
      </p:sp>
      <p:sp>
        <p:nvSpPr>
          <p:cNvPr id="9" name="TextBox 46">
            <a:extLst>
              <a:ext uri="{FF2B5EF4-FFF2-40B4-BE49-F238E27FC236}">
                <a16:creationId xmlns:a16="http://schemas.microsoft.com/office/drawing/2014/main" id="{2265C5B1-4F07-8206-1BB3-63B954F7B01C}"/>
              </a:ext>
            </a:extLst>
          </p:cNvPr>
          <p:cNvSpPr txBox="1"/>
          <p:nvPr/>
        </p:nvSpPr>
        <p:spPr>
          <a:xfrm>
            <a:off x="6384810" y="3682635"/>
            <a:ext cx="5179006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_tradnl" sz="1350" b="0" i="0" dirty="0">
                <a:solidFill>
                  <a:srgbClr val="36424E"/>
                </a:solidFill>
                <a:latin typeface="Calibri"/>
              </a:rPr>
              <a:t>El ruido desplaza la observación: </a:t>
            </a:r>
            <a:r>
              <a:rPr lang="es-ES_tradnl" sz="1350" b="1" i="0" dirty="0">
                <a:solidFill>
                  <a:srgbClr val="A6342A"/>
                </a:solidFill>
                <a:latin typeface="Courier New"/>
              </a:rPr>
              <a:t>b = v + e</a:t>
            </a:r>
            <a:r>
              <a:rPr lang="es-ES_tradnl" sz="1350" b="0" i="0" dirty="0">
                <a:solidFill>
                  <a:srgbClr val="36424E"/>
                </a:solidFill>
                <a:latin typeface="Calibri"/>
              </a:rPr>
              <a:t>,  con v ∈ L</a:t>
            </a:r>
            <a:r>
              <a:rPr lang="es-ES_tradnl" sz="1350" b="0" i="0" baseline="-25000" dirty="0">
                <a:solidFill>
                  <a:srgbClr val="36424E"/>
                </a:solidFill>
                <a:latin typeface="Calibri"/>
              </a:rPr>
              <a:t>q</a:t>
            </a:r>
            <a:r>
              <a:rPr lang="es-ES_tradnl" sz="1350" b="0" i="0" dirty="0">
                <a:solidFill>
                  <a:srgbClr val="36424E"/>
                </a:solidFill>
                <a:latin typeface="Calibri"/>
              </a:rPr>
              <a:t>(A).</a:t>
            </a:r>
          </a:p>
        </p:txBody>
      </p:sp>
      <p:sp>
        <p:nvSpPr>
          <p:cNvPr id="10" name="TextBox 48">
            <a:extLst>
              <a:ext uri="{FF2B5EF4-FFF2-40B4-BE49-F238E27FC236}">
                <a16:creationId xmlns:a16="http://schemas.microsoft.com/office/drawing/2014/main" id="{C4FEA719-EDA1-85C4-B4AE-1648980243E2}"/>
              </a:ext>
            </a:extLst>
          </p:cNvPr>
          <p:cNvSpPr txBox="1"/>
          <p:nvPr/>
        </p:nvSpPr>
        <p:spPr>
          <a:xfrm>
            <a:off x="6384810" y="4524548"/>
            <a:ext cx="5179006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_tradnl" b="1" i="0" dirty="0">
                <a:solidFill>
                  <a:srgbClr val="1B2430"/>
                </a:solidFill>
                <a:latin typeface="Calibri"/>
              </a:rPr>
              <a:t>Recuperación</a:t>
            </a:r>
          </a:p>
        </p:txBody>
      </p:sp>
      <p:sp>
        <p:nvSpPr>
          <p:cNvPr id="11" name="TextBox 49">
            <a:extLst>
              <a:ext uri="{FF2B5EF4-FFF2-40B4-BE49-F238E27FC236}">
                <a16:creationId xmlns:a16="http://schemas.microsoft.com/office/drawing/2014/main" id="{66577CD6-1C59-95F1-323C-C05CAF2C5837}"/>
              </a:ext>
            </a:extLst>
          </p:cNvPr>
          <p:cNvSpPr txBox="1"/>
          <p:nvPr/>
        </p:nvSpPr>
        <p:spPr>
          <a:xfrm>
            <a:off x="6384810" y="4856410"/>
            <a:ext cx="5179006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_tradnl" sz="1350" b="0" i="0" dirty="0">
                <a:solidFill>
                  <a:srgbClr val="36424E"/>
                </a:solidFill>
                <a:latin typeface="Calibri"/>
              </a:rPr>
              <a:t>Volver a v equivale a hallar el punto del retículo más cercano: </a:t>
            </a:r>
            <a:r>
              <a:rPr lang="es-ES_tradnl" sz="1350" b="1" i="0" dirty="0">
                <a:solidFill>
                  <a:srgbClr val="0060AB"/>
                </a:solidFill>
                <a:latin typeface="Calibri"/>
              </a:rPr>
              <a:t>CVP / BDD</a:t>
            </a:r>
            <a:r>
              <a:rPr lang="es-ES_tradnl" sz="1350" b="0" i="0" dirty="0">
                <a:solidFill>
                  <a:srgbClr val="36424E"/>
                </a:solidFill>
                <a:latin typeface="Calibri"/>
              </a:rPr>
              <a:t>.</a:t>
            </a:r>
          </a:p>
        </p:txBody>
      </p:sp>
      <p:sp>
        <p:nvSpPr>
          <p:cNvPr id="12" name="TextBox 50">
            <a:extLst>
              <a:ext uri="{FF2B5EF4-FFF2-40B4-BE49-F238E27FC236}">
                <a16:creationId xmlns:a16="http://schemas.microsoft.com/office/drawing/2014/main" id="{500FF9C4-03C3-487A-A1FA-7EC38216F3AB}"/>
              </a:ext>
            </a:extLst>
          </p:cNvPr>
          <p:cNvSpPr txBox="1"/>
          <p:nvPr/>
        </p:nvSpPr>
        <p:spPr>
          <a:xfrm>
            <a:off x="848746" y="6162610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_tradnl" sz="1050" b="1" i="1" dirty="0">
                <a:solidFill>
                  <a:srgbClr val="7E8893"/>
                </a:solidFill>
                <a:latin typeface="Calibri"/>
              </a:rPr>
              <a:t>Lectura dual:  </a:t>
            </a:r>
            <a:r>
              <a:rPr lang="es-ES_tradnl" sz="1050" b="0" i="0" dirty="0">
                <a:solidFill>
                  <a:srgbClr val="36424E"/>
                </a:solidFill>
                <a:latin typeface="Courier New"/>
              </a:rPr>
              <a:t>⟨y, b⟩ ≡ ⟨y, e⟩ (mod q)</a:t>
            </a:r>
            <a:r>
              <a:rPr lang="es-ES_tradnl" sz="1050" b="0" i="1" dirty="0">
                <a:solidFill>
                  <a:srgbClr val="7E8893"/>
                </a:solidFill>
                <a:latin typeface="Calibri"/>
              </a:rPr>
              <a:t>  — ciertas direcciones cancelan el secreto: base del ataque dual.</a:t>
            </a:r>
          </a:p>
        </p:txBody>
      </p:sp>
      <p:pic>
        <p:nvPicPr>
          <p:cNvPr id="13" name="Picture 8" descr="geom_lwe.png">
            <a:extLst>
              <a:ext uri="{FF2B5EF4-FFF2-40B4-BE49-F238E27FC236}">
                <a16:creationId xmlns:a16="http://schemas.microsoft.com/office/drawing/2014/main" id="{2508D0C7-ADD1-6058-A45E-892A2250F66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333" t="3439" r="7161" b="5344"/>
          <a:stretch>
            <a:fillRect/>
          </a:stretch>
        </p:blipFill>
        <p:spPr>
          <a:xfrm>
            <a:off x="848746" y="1843266"/>
            <a:ext cx="4247405" cy="3820575"/>
          </a:xfrm>
          <a:prstGeom prst="rect">
            <a:avLst/>
          </a:prstGeom>
        </p:spPr>
      </p:pic>
      <p:sp>
        <p:nvSpPr>
          <p:cNvPr id="14" name="TextBox 29">
            <a:extLst>
              <a:ext uri="{FF2B5EF4-FFF2-40B4-BE49-F238E27FC236}">
                <a16:creationId xmlns:a16="http://schemas.microsoft.com/office/drawing/2014/main" id="{1D3E4329-380B-0575-D876-EF183CFD42C0}"/>
              </a:ext>
            </a:extLst>
          </p:cNvPr>
          <p:cNvSpPr txBox="1"/>
          <p:nvPr/>
        </p:nvSpPr>
        <p:spPr>
          <a:xfrm>
            <a:off x="5531005" y="1950179"/>
            <a:ext cx="758283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lang="es-ES_tradnl" sz="3200" b="1" dirty="0">
                <a:solidFill>
                  <a:schemeClr val="bg2">
                    <a:lumMod val="90000"/>
                  </a:schemeClr>
                </a:solidFill>
              </a:rPr>
              <a:t>∈</a:t>
            </a:r>
            <a:endParaRPr lang="es-ES_tradnl" sz="3200" b="1" dirty="0">
              <a:solidFill>
                <a:schemeClr val="bg2">
                  <a:lumMod val="90000"/>
                </a:schemeClr>
              </a:solidFill>
              <a:latin typeface="Cambria"/>
            </a:endParaRPr>
          </a:p>
        </p:txBody>
      </p:sp>
      <p:sp>
        <p:nvSpPr>
          <p:cNvPr id="15" name="TextBox 32">
            <a:extLst>
              <a:ext uri="{FF2B5EF4-FFF2-40B4-BE49-F238E27FC236}">
                <a16:creationId xmlns:a16="http://schemas.microsoft.com/office/drawing/2014/main" id="{F4D2EDD6-27B7-7769-6ECE-43F0663E53E1}"/>
              </a:ext>
            </a:extLst>
          </p:cNvPr>
          <p:cNvSpPr txBox="1"/>
          <p:nvPr/>
        </p:nvSpPr>
        <p:spPr>
          <a:xfrm>
            <a:off x="5531005" y="3173161"/>
            <a:ext cx="758283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lang="es-ES_tradnl" sz="3200" b="1" dirty="0">
                <a:solidFill>
                  <a:schemeClr val="bg2">
                    <a:lumMod val="90000"/>
                  </a:schemeClr>
                </a:solidFill>
                <a:latin typeface="Cambria"/>
              </a:rPr>
              <a:t>+e</a:t>
            </a:r>
          </a:p>
        </p:txBody>
      </p:sp>
      <p:sp>
        <p:nvSpPr>
          <p:cNvPr id="16" name="TextBox 35">
            <a:extLst>
              <a:ext uri="{FF2B5EF4-FFF2-40B4-BE49-F238E27FC236}">
                <a16:creationId xmlns:a16="http://schemas.microsoft.com/office/drawing/2014/main" id="{045204F8-FC6B-5388-5371-F5386DD7D127}"/>
              </a:ext>
            </a:extLst>
          </p:cNvPr>
          <p:cNvSpPr txBox="1"/>
          <p:nvPr/>
        </p:nvSpPr>
        <p:spPr>
          <a:xfrm>
            <a:off x="5531005" y="4396143"/>
            <a:ext cx="758283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lang="es-ES_tradnl" sz="2800" b="1" dirty="0">
                <a:solidFill>
                  <a:schemeClr val="bg2">
                    <a:lumMod val="90000"/>
                  </a:schemeClr>
                </a:solidFill>
                <a:latin typeface="Cambria"/>
              </a:rPr>
              <a:t>min</a:t>
            </a:r>
            <a:endParaRPr lang="es-ES_tradnl" sz="3200" b="1" dirty="0">
              <a:solidFill>
                <a:schemeClr val="bg2">
                  <a:lumMod val="90000"/>
                </a:schemeClr>
              </a:solidFill>
              <a:latin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894245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4A068-CD09-53EB-8487-C4BE32674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CE5D917-E552-7803-88CD-D25C07F3C753}"/>
              </a:ext>
            </a:extLst>
          </p:cNvPr>
          <p:cNvSpPr/>
          <p:nvPr/>
        </p:nvSpPr>
        <p:spPr>
          <a:xfrm>
            <a:off x="841248" y="457200"/>
            <a:ext cx="105091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_tradnl" sz="1150" b="1" spc="60" dirty="0">
                <a:solidFill>
                  <a:srgbClr val="0060AB"/>
                </a:solidFill>
              </a:rPr>
              <a:t>§ 4 · GARANTÍA TEÓRICA</a:t>
            </a:r>
          </a:p>
        </p:txBody>
      </p:sp>
      <p:pic>
        <p:nvPicPr>
          <p:cNvPr id="3" name="Image 0" descr="figs/uax_color.png">
            <a:extLst>
              <a:ext uri="{FF2B5EF4-FFF2-40B4-BE49-F238E27FC236}">
                <a16:creationId xmlns:a16="http://schemas.microsoft.com/office/drawing/2014/main" id="{AD1A2EFA-DA9C-0D40-237F-470A0315F6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6854" y="164593"/>
            <a:ext cx="1932677" cy="749808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87343792-B55C-79EA-C60F-A2525A647656}"/>
              </a:ext>
            </a:extLst>
          </p:cNvPr>
          <p:cNvSpPr/>
          <p:nvPr/>
        </p:nvSpPr>
        <p:spPr>
          <a:xfrm>
            <a:off x="841248" y="731520"/>
            <a:ext cx="1050919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_tradnl" sz="3000" b="1" dirty="0">
                <a:latin typeface="Cambria"/>
              </a:rPr>
              <a:t>La reducción de Regev (2005)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7A3666A4-5A8F-FE06-600C-C7061A4D1160}"/>
              </a:ext>
            </a:extLst>
          </p:cNvPr>
          <p:cNvSpPr/>
          <p:nvPr/>
        </p:nvSpPr>
        <p:spPr>
          <a:xfrm>
            <a:off x="841248" y="1481328"/>
            <a:ext cx="10509199" cy="0"/>
          </a:xfrm>
          <a:prstGeom prst="line">
            <a:avLst/>
          </a:prstGeom>
          <a:noFill/>
          <a:ln w="12700">
            <a:solidFill>
              <a:srgbClr val="C8CFD4"/>
            </a:solidFill>
            <a:prstDash val="solid"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5DAA8D87-1247-3BB5-C7EB-F65A4395E403}"/>
              </a:ext>
            </a:extLst>
          </p:cNvPr>
          <p:cNvSpPr/>
          <p:nvPr/>
        </p:nvSpPr>
        <p:spPr>
          <a:xfrm>
            <a:off x="841248" y="6400800"/>
            <a:ext cx="10509199" cy="0"/>
          </a:xfrm>
          <a:prstGeom prst="line">
            <a:avLst/>
          </a:prstGeom>
          <a:noFill/>
          <a:ln w="9525">
            <a:solidFill>
              <a:srgbClr val="E7EBEE"/>
            </a:solidFill>
            <a:prstDash val="solid"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4659F04B-CB59-AE24-5CFC-BC823E190A62}"/>
              </a:ext>
            </a:extLst>
          </p:cNvPr>
          <p:cNvSpPr/>
          <p:nvPr/>
        </p:nvSpPr>
        <p:spPr>
          <a:xfrm>
            <a:off x="841248" y="645566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850" b="1" kern="0" spc="200" dirty="0">
                <a:solidFill>
                  <a:srgbClr val="AE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POSTCUÁNTICA · LEARNING WITH ERRORS</a:t>
            </a:r>
            <a:endParaRPr lang="es-ES_tradnl" sz="85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F36E5801-6903-265C-5295-5362B5D69428}"/>
              </a:ext>
            </a:extLst>
          </p:cNvPr>
          <p:cNvSpPr/>
          <p:nvPr/>
        </p:nvSpPr>
        <p:spPr>
          <a:xfrm>
            <a:off x="9521647" y="64556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_tradnl" sz="850" b="0" dirty="0">
                <a:solidFill>
                  <a:srgbClr val="AEB6BD"/>
                </a:solidFill>
                <a:latin typeface="Calibri"/>
              </a:rPr>
              <a:t>0</a:t>
            </a:r>
            <a:r>
              <a:rPr lang="es-ES_tradnl" sz="850" dirty="0">
                <a:solidFill>
                  <a:srgbClr val="AEB6BD"/>
                </a:solidFill>
                <a:latin typeface="Calibri"/>
              </a:rPr>
              <a:t>5</a:t>
            </a:r>
            <a:r>
              <a:rPr lang="es-ES_tradnl" sz="850" b="0" dirty="0">
                <a:solidFill>
                  <a:srgbClr val="AEB6BD"/>
                </a:solidFill>
                <a:latin typeface="Calibri"/>
              </a:rPr>
              <a:t> / 13</a:t>
            </a:r>
            <a:endParaRPr lang="es-ES_tradnl" sz="850" dirty="0"/>
          </a:p>
        </p:txBody>
      </p:sp>
      <p:sp>
        <p:nvSpPr>
          <p:cNvPr id="6" name="Text 13">
            <a:extLst>
              <a:ext uri="{FF2B5EF4-FFF2-40B4-BE49-F238E27FC236}">
                <a16:creationId xmlns:a16="http://schemas.microsoft.com/office/drawing/2014/main" id="{1CB22C21-F8BE-6884-F641-A41DDCEECDD3}"/>
              </a:ext>
            </a:extLst>
          </p:cNvPr>
          <p:cNvSpPr/>
          <p:nvPr/>
        </p:nvSpPr>
        <p:spPr>
          <a:xfrm>
            <a:off x="1047711" y="505929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150" b="1" kern="0" spc="200" dirty="0">
                <a:solidFill>
                  <a:srgbClr val="006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GARANTIZA</a:t>
            </a:r>
            <a:endParaRPr lang="es-ES_tradnl" sz="1150" dirty="0"/>
          </a:p>
        </p:txBody>
      </p:sp>
      <p:sp>
        <p:nvSpPr>
          <p:cNvPr id="7" name="Text 14">
            <a:extLst>
              <a:ext uri="{FF2B5EF4-FFF2-40B4-BE49-F238E27FC236}">
                <a16:creationId xmlns:a16="http://schemas.microsoft.com/office/drawing/2014/main" id="{A11690C5-AD3C-DADF-2613-28E84057785A}"/>
              </a:ext>
            </a:extLst>
          </p:cNvPr>
          <p:cNvSpPr/>
          <p:nvPr/>
        </p:nvSpPr>
        <p:spPr>
          <a:xfrm>
            <a:off x="1047711" y="5077581"/>
            <a:ext cx="4846320" cy="756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_tradnl" sz="1400" dirty="0">
                <a:solidFill>
                  <a:srgbClr val="36424E"/>
                </a:solidFill>
              </a:rPr>
              <a:t>Un fundamento de dureza sólido, no heurístico.</a:t>
            </a:r>
          </a:p>
        </p:txBody>
      </p:sp>
      <p:sp>
        <p:nvSpPr>
          <p:cNvPr id="8" name="Text 15">
            <a:extLst>
              <a:ext uri="{FF2B5EF4-FFF2-40B4-BE49-F238E27FC236}">
                <a16:creationId xmlns:a16="http://schemas.microsoft.com/office/drawing/2014/main" id="{752F0C70-3633-D3FB-C1D1-5FA1999A2FB3}"/>
              </a:ext>
            </a:extLst>
          </p:cNvPr>
          <p:cNvSpPr/>
          <p:nvPr/>
        </p:nvSpPr>
        <p:spPr>
          <a:xfrm>
            <a:off x="6532670" y="505929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150" b="1" kern="0" spc="200" dirty="0">
                <a:solidFill>
                  <a:srgbClr val="6C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NO</a:t>
            </a:r>
            <a:endParaRPr lang="es-ES_tradnl" sz="1150" dirty="0"/>
          </a:p>
        </p:txBody>
      </p:sp>
      <p:sp>
        <p:nvSpPr>
          <p:cNvPr id="9" name="Text 16">
            <a:extLst>
              <a:ext uri="{FF2B5EF4-FFF2-40B4-BE49-F238E27FC236}">
                <a16:creationId xmlns:a16="http://schemas.microsoft.com/office/drawing/2014/main" id="{7E92AC1B-D786-4106-1ABE-5FBB1841ECFC}"/>
              </a:ext>
            </a:extLst>
          </p:cNvPr>
          <p:cNvSpPr/>
          <p:nvPr/>
        </p:nvSpPr>
        <p:spPr>
          <a:xfrm>
            <a:off x="6532670" y="5077581"/>
            <a:ext cx="4846320" cy="75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_tradnl" sz="1400" dirty="0">
                <a:solidFill>
                  <a:srgbClr val="36424E"/>
                </a:solidFill>
              </a:rPr>
              <a:t>No fija parámetros ni promete seguridad incondicional.</a:t>
            </a:r>
          </a:p>
        </p:txBody>
      </p:sp>
      <p:sp>
        <p:nvSpPr>
          <p:cNvPr id="10" name="Shape 12">
            <a:extLst>
              <a:ext uri="{FF2B5EF4-FFF2-40B4-BE49-F238E27FC236}">
                <a16:creationId xmlns:a16="http://schemas.microsoft.com/office/drawing/2014/main" id="{4852EAE6-DE64-E04A-2306-E0144B356C02}"/>
              </a:ext>
            </a:extLst>
          </p:cNvPr>
          <p:cNvSpPr/>
          <p:nvPr/>
        </p:nvSpPr>
        <p:spPr>
          <a:xfrm>
            <a:off x="6081466" y="4810005"/>
            <a:ext cx="0" cy="1199890"/>
          </a:xfrm>
          <a:prstGeom prst="line">
            <a:avLst/>
          </a:prstGeom>
          <a:noFill/>
          <a:ln w="9525">
            <a:solidFill>
              <a:srgbClr val="C8CFD4"/>
            </a:solidFill>
            <a:prstDash val="solid"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D1AEEAA7-0D99-3B29-6C8A-5BA1849B1586}"/>
              </a:ext>
            </a:extLst>
          </p:cNvPr>
          <p:cNvSpPr/>
          <p:nvPr/>
        </p:nvSpPr>
        <p:spPr>
          <a:xfrm>
            <a:off x="826866" y="4579843"/>
            <a:ext cx="10509199" cy="0"/>
          </a:xfrm>
          <a:prstGeom prst="line">
            <a:avLst/>
          </a:prstGeom>
          <a:noFill/>
          <a:ln w="9525">
            <a:solidFill>
              <a:srgbClr val="E7EBEE"/>
            </a:solidFill>
            <a:prstDash val="solid"/>
          </a:ln>
        </p:spPr>
        <p:txBody>
          <a:bodyPr/>
          <a:lstStyle/>
          <a:p>
            <a:endParaRPr lang="es-ES_tradnl" dirty="0"/>
          </a:p>
        </p:txBody>
      </p:sp>
      <p:cxnSp>
        <p:nvCxnSpPr>
          <p:cNvPr id="12" name="c40">
            <a:extLst>
              <a:ext uri="{FF2B5EF4-FFF2-40B4-BE49-F238E27FC236}">
                <a16:creationId xmlns:a16="http://schemas.microsoft.com/office/drawing/2014/main" id="{0C10E9FB-9E97-A7A4-9532-1F88EAE2DD60}"/>
              </a:ext>
            </a:extLst>
          </p:cNvPr>
          <p:cNvCxnSpPr/>
          <p:nvPr/>
        </p:nvCxnSpPr>
        <p:spPr>
          <a:xfrm>
            <a:off x="2431524" y="2488429"/>
            <a:ext cx="3556000" cy="0"/>
          </a:xfrm>
          <a:prstGeom prst="straightConnector1">
            <a:avLst/>
          </a:prstGeom>
          <a:ln w="19050" cap="rnd">
            <a:solidFill>
              <a:srgbClr val="C3D4E4"/>
            </a:solidFill>
            <a:tailEnd type="triangle" w="med" len="med"/>
          </a:ln>
        </p:spPr>
      </p:cxnSp>
      <p:cxnSp>
        <p:nvCxnSpPr>
          <p:cNvPr id="13" name="c41">
            <a:extLst>
              <a:ext uri="{FF2B5EF4-FFF2-40B4-BE49-F238E27FC236}">
                <a16:creationId xmlns:a16="http://schemas.microsoft.com/office/drawing/2014/main" id="{BE21AADA-358F-6664-57CA-CC50771B820F}"/>
              </a:ext>
            </a:extLst>
          </p:cNvPr>
          <p:cNvCxnSpPr/>
          <p:nvPr/>
        </p:nvCxnSpPr>
        <p:spPr>
          <a:xfrm>
            <a:off x="6207524" y="2488429"/>
            <a:ext cx="3546000" cy="0"/>
          </a:xfrm>
          <a:prstGeom prst="straightConnector1">
            <a:avLst/>
          </a:prstGeom>
          <a:ln w="19050" cap="rnd">
            <a:solidFill>
              <a:srgbClr val="C3D4E4"/>
            </a:solidFill>
            <a:tailEnd type="triangle" w="med" len="med"/>
          </a:ln>
        </p:spPr>
      </p:cxnSp>
      <p:sp>
        <p:nvSpPr>
          <p:cNvPr id="14" name="dot42">
            <a:extLst>
              <a:ext uri="{FF2B5EF4-FFF2-40B4-BE49-F238E27FC236}">
                <a16:creationId xmlns:a16="http://schemas.microsoft.com/office/drawing/2014/main" id="{6A204E63-D785-10A9-6007-10D6856D33B6}"/>
              </a:ext>
            </a:extLst>
          </p:cNvPr>
          <p:cNvSpPr/>
          <p:nvPr/>
        </p:nvSpPr>
        <p:spPr>
          <a:xfrm>
            <a:off x="5937524" y="2328429"/>
            <a:ext cx="320000" cy="320000"/>
          </a:xfrm>
          <a:prstGeom prst="ellipse">
            <a:avLst/>
          </a:prstGeom>
          <a:solidFill>
            <a:srgbClr val="E6F0FA"/>
          </a:solidFill>
        </p:spPr>
        <p:txBody>
          <a:bodyPr/>
          <a:lstStyle/>
          <a:p>
            <a:endParaRPr lang="es-ES_tradnl" dirty="0"/>
          </a:p>
        </p:txBody>
      </p:sp>
      <p:sp>
        <p:nvSpPr>
          <p:cNvPr id="15" name="dot43">
            <a:extLst>
              <a:ext uri="{FF2B5EF4-FFF2-40B4-BE49-F238E27FC236}">
                <a16:creationId xmlns:a16="http://schemas.microsoft.com/office/drawing/2014/main" id="{E55F1258-37AE-415D-DEC2-CE66ABF18301}"/>
              </a:ext>
            </a:extLst>
          </p:cNvPr>
          <p:cNvSpPr/>
          <p:nvPr/>
        </p:nvSpPr>
        <p:spPr>
          <a:xfrm>
            <a:off x="2285524" y="2422429"/>
            <a:ext cx="132000" cy="1320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6C7681"/>
            </a:solidFill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6" name="dot44">
            <a:extLst>
              <a:ext uri="{FF2B5EF4-FFF2-40B4-BE49-F238E27FC236}">
                <a16:creationId xmlns:a16="http://schemas.microsoft.com/office/drawing/2014/main" id="{73BF2E40-51A3-767F-5DD4-7A9780AECF70}"/>
              </a:ext>
            </a:extLst>
          </p:cNvPr>
          <p:cNvSpPr/>
          <p:nvPr/>
        </p:nvSpPr>
        <p:spPr>
          <a:xfrm>
            <a:off x="9777524" y="2422429"/>
            <a:ext cx="132000" cy="1320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6C7681"/>
            </a:solidFill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20" name="dot45">
            <a:extLst>
              <a:ext uri="{FF2B5EF4-FFF2-40B4-BE49-F238E27FC236}">
                <a16:creationId xmlns:a16="http://schemas.microsoft.com/office/drawing/2014/main" id="{F8F508D2-E6BB-1627-A824-10E7853964CE}"/>
              </a:ext>
            </a:extLst>
          </p:cNvPr>
          <p:cNvSpPr/>
          <p:nvPr/>
        </p:nvSpPr>
        <p:spPr>
          <a:xfrm>
            <a:off x="5997524" y="2388429"/>
            <a:ext cx="200000" cy="200000"/>
          </a:xfrm>
          <a:prstGeom prst="ellipse">
            <a:avLst/>
          </a:prstGeom>
          <a:solidFill>
            <a:srgbClr val="0060AB"/>
          </a:solidFill>
        </p:spPr>
        <p:txBody>
          <a:bodyPr/>
          <a:lstStyle/>
          <a:p>
            <a:endParaRPr lang="es-ES_tradnl" dirty="0"/>
          </a:p>
        </p:txBody>
      </p:sp>
      <p:sp>
        <p:nvSpPr>
          <p:cNvPr id="21" name="t10">
            <a:extLst>
              <a:ext uri="{FF2B5EF4-FFF2-40B4-BE49-F238E27FC236}">
                <a16:creationId xmlns:a16="http://schemas.microsoft.com/office/drawing/2014/main" id="{5C994ECC-BA89-022A-527E-692369D27BB2}"/>
              </a:ext>
            </a:extLst>
          </p:cNvPr>
          <p:cNvSpPr txBox="1"/>
          <p:nvPr/>
        </p:nvSpPr>
        <p:spPr>
          <a:xfrm>
            <a:off x="851524" y="2118429"/>
            <a:ext cx="3000000" cy="25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s-ES_tradnl" sz="1000" b="1" i="0" spc="80" dirty="0">
                <a:solidFill>
                  <a:srgbClr val="6C7681"/>
                </a:solidFill>
                <a:latin typeface="Calibri"/>
              </a:rPr>
              <a:t>PEOR CASO</a:t>
            </a:r>
          </a:p>
        </p:txBody>
      </p:sp>
      <p:sp>
        <p:nvSpPr>
          <p:cNvPr id="22" name="t15">
            <a:extLst>
              <a:ext uri="{FF2B5EF4-FFF2-40B4-BE49-F238E27FC236}">
                <a16:creationId xmlns:a16="http://schemas.microsoft.com/office/drawing/2014/main" id="{E9E7EAC1-11FC-BE9B-0C7F-1D4732A83E8A}"/>
              </a:ext>
            </a:extLst>
          </p:cNvPr>
          <p:cNvSpPr txBox="1"/>
          <p:nvPr/>
        </p:nvSpPr>
        <p:spPr>
          <a:xfrm>
            <a:off x="4597524" y="2118429"/>
            <a:ext cx="3000000" cy="25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s-ES_tradnl" sz="1000" b="1" i="0" spc="80" dirty="0">
                <a:solidFill>
                  <a:srgbClr val="0060AB"/>
                </a:solidFill>
                <a:latin typeface="Calibri"/>
              </a:rPr>
              <a:t>PUENTE</a:t>
            </a:r>
          </a:p>
        </p:txBody>
      </p:sp>
      <p:sp>
        <p:nvSpPr>
          <p:cNvPr id="23" name="t20">
            <a:extLst>
              <a:ext uri="{FF2B5EF4-FFF2-40B4-BE49-F238E27FC236}">
                <a16:creationId xmlns:a16="http://schemas.microsoft.com/office/drawing/2014/main" id="{E1B06C07-55C9-D875-BC7C-4E28B502A858}"/>
              </a:ext>
            </a:extLst>
          </p:cNvPr>
          <p:cNvSpPr txBox="1"/>
          <p:nvPr/>
        </p:nvSpPr>
        <p:spPr>
          <a:xfrm>
            <a:off x="8343524" y="2118429"/>
            <a:ext cx="3000000" cy="25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s-ES_tradnl" sz="1000" b="1" i="0" spc="80" dirty="0">
                <a:solidFill>
                  <a:srgbClr val="6C7681"/>
                </a:solidFill>
                <a:latin typeface="Calibri"/>
              </a:rPr>
              <a:t>PROMEDIO</a:t>
            </a:r>
          </a:p>
        </p:txBody>
      </p:sp>
      <p:sp>
        <p:nvSpPr>
          <p:cNvPr id="24" name="t11">
            <a:extLst>
              <a:ext uri="{FF2B5EF4-FFF2-40B4-BE49-F238E27FC236}">
                <a16:creationId xmlns:a16="http://schemas.microsoft.com/office/drawing/2014/main" id="{F891C4D3-3066-30DA-F72D-EFDEC944614A}"/>
              </a:ext>
            </a:extLst>
          </p:cNvPr>
          <p:cNvSpPr txBox="1"/>
          <p:nvPr/>
        </p:nvSpPr>
        <p:spPr>
          <a:xfrm>
            <a:off x="801524" y="2708429"/>
            <a:ext cx="3100000" cy="4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s-ES_tradnl" sz="1800" b="1" i="0" dirty="0">
                <a:solidFill>
                  <a:srgbClr val="1B2430"/>
                </a:solidFill>
                <a:latin typeface="Cambria"/>
              </a:rPr>
              <a:t>SIVP / GapSVP</a:t>
            </a:r>
          </a:p>
        </p:txBody>
      </p:sp>
      <p:sp>
        <p:nvSpPr>
          <p:cNvPr id="25" name="t16">
            <a:extLst>
              <a:ext uri="{FF2B5EF4-FFF2-40B4-BE49-F238E27FC236}">
                <a16:creationId xmlns:a16="http://schemas.microsoft.com/office/drawing/2014/main" id="{DC263FCC-6290-ED02-4202-305A42A6B2E3}"/>
              </a:ext>
            </a:extLst>
          </p:cNvPr>
          <p:cNvSpPr txBox="1"/>
          <p:nvPr/>
        </p:nvSpPr>
        <p:spPr>
          <a:xfrm>
            <a:off x="4547524" y="2708429"/>
            <a:ext cx="3100000" cy="4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s-ES_tradnl" sz="1800" b="1" i="0" dirty="0">
                <a:solidFill>
                  <a:srgbClr val="0060AB"/>
                </a:solidFill>
                <a:latin typeface="Cambria"/>
              </a:rPr>
              <a:t>Muestreo gaussiano</a:t>
            </a:r>
          </a:p>
        </p:txBody>
      </p:sp>
      <p:sp>
        <p:nvSpPr>
          <p:cNvPr id="26" name="t21">
            <a:extLst>
              <a:ext uri="{FF2B5EF4-FFF2-40B4-BE49-F238E27FC236}">
                <a16:creationId xmlns:a16="http://schemas.microsoft.com/office/drawing/2014/main" id="{B43A5500-7D83-38E1-69C6-400FF35B02B6}"/>
              </a:ext>
            </a:extLst>
          </p:cNvPr>
          <p:cNvSpPr txBox="1"/>
          <p:nvPr/>
        </p:nvSpPr>
        <p:spPr>
          <a:xfrm>
            <a:off x="8293524" y="2708429"/>
            <a:ext cx="3100000" cy="4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s-ES_tradnl" sz="1800" b="1" i="0" dirty="0">
                <a:solidFill>
                  <a:srgbClr val="1B2430"/>
                </a:solidFill>
                <a:latin typeface="Cambria"/>
              </a:rPr>
              <a:t>Decision-LWE</a:t>
            </a:r>
          </a:p>
        </p:txBody>
      </p:sp>
      <p:sp>
        <p:nvSpPr>
          <p:cNvPr id="27" name="t12">
            <a:extLst>
              <a:ext uri="{FF2B5EF4-FFF2-40B4-BE49-F238E27FC236}">
                <a16:creationId xmlns:a16="http://schemas.microsoft.com/office/drawing/2014/main" id="{8D37D02E-3A64-6CF5-8CA0-CCA10D50C9D7}"/>
              </a:ext>
            </a:extLst>
          </p:cNvPr>
          <p:cNvSpPr txBox="1"/>
          <p:nvPr/>
        </p:nvSpPr>
        <p:spPr>
          <a:xfrm>
            <a:off x="801524" y="3093447"/>
            <a:ext cx="3100000" cy="3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s-ES_tradnl" sz="1150" b="0" i="1" dirty="0">
                <a:solidFill>
                  <a:srgbClr val="6C7681"/>
                </a:solidFill>
                <a:latin typeface="Calibri"/>
              </a:rPr>
              <a:t>retículos · cualquier instancia</a:t>
            </a:r>
          </a:p>
        </p:txBody>
      </p:sp>
      <p:sp>
        <p:nvSpPr>
          <p:cNvPr id="28" name="t17">
            <a:extLst>
              <a:ext uri="{FF2B5EF4-FFF2-40B4-BE49-F238E27FC236}">
                <a16:creationId xmlns:a16="http://schemas.microsoft.com/office/drawing/2014/main" id="{53115166-D105-10A3-8817-EB993BF5A62D}"/>
              </a:ext>
            </a:extLst>
          </p:cNvPr>
          <p:cNvSpPr txBox="1"/>
          <p:nvPr/>
        </p:nvSpPr>
        <p:spPr>
          <a:xfrm>
            <a:off x="4555783" y="3093447"/>
            <a:ext cx="3100000" cy="3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s-ES_tradnl" sz="1150" b="0" i="1" dirty="0">
                <a:solidFill>
                  <a:srgbClr val="6C7681"/>
                </a:solidFill>
                <a:latin typeface="Calibri"/>
              </a:rPr>
              <a:t>reducción cuántica</a:t>
            </a:r>
          </a:p>
        </p:txBody>
      </p:sp>
      <p:sp>
        <p:nvSpPr>
          <p:cNvPr id="29" name="t22">
            <a:extLst>
              <a:ext uri="{FF2B5EF4-FFF2-40B4-BE49-F238E27FC236}">
                <a16:creationId xmlns:a16="http://schemas.microsoft.com/office/drawing/2014/main" id="{C3447524-ECE6-7B94-41C8-094F973C3982}"/>
              </a:ext>
            </a:extLst>
          </p:cNvPr>
          <p:cNvSpPr txBox="1"/>
          <p:nvPr/>
        </p:nvSpPr>
        <p:spPr>
          <a:xfrm>
            <a:off x="8293524" y="3093447"/>
            <a:ext cx="3100000" cy="3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s-ES_tradnl" sz="1150" b="0" i="1" dirty="0">
                <a:solidFill>
                  <a:srgbClr val="6C7681"/>
                </a:solidFill>
                <a:latin typeface="Calibri"/>
              </a:rPr>
              <a:t>álgebra · instancia aleatoria</a:t>
            </a:r>
          </a:p>
        </p:txBody>
      </p:sp>
      <p:sp>
        <p:nvSpPr>
          <p:cNvPr id="30" name="TextBox 22">
            <a:extLst>
              <a:ext uri="{FF2B5EF4-FFF2-40B4-BE49-F238E27FC236}">
                <a16:creationId xmlns:a16="http://schemas.microsoft.com/office/drawing/2014/main" id="{FBF1CF14-14BB-720F-C12F-4F14EBA1375C}"/>
              </a:ext>
            </a:extLst>
          </p:cNvPr>
          <p:cNvSpPr txBox="1"/>
          <p:nvPr/>
        </p:nvSpPr>
        <p:spPr>
          <a:xfrm>
            <a:off x="842772" y="3813029"/>
            <a:ext cx="10506456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ES_tradnl" sz="1400" b="0" i="0" dirty="0">
                <a:solidFill>
                  <a:srgbClr val="36424E"/>
                </a:solidFill>
                <a:latin typeface="Cambria"/>
              </a:rPr>
              <a:t>Resolver LWE en promedio resolvería SIVP/GapSVP en cualquier retículo:  </a:t>
            </a:r>
            <a:r>
              <a:rPr lang="es-ES_tradnl" sz="1400" b="1" i="0" dirty="0">
                <a:solidFill>
                  <a:srgbClr val="1B2430"/>
                </a:solidFill>
                <a:latin typeface="Cambria"/>
              </a:rPr>
              <a:t>la dureza se hereda del peor caso.</a:t>
            </a:r>
          </a:p>
        </p:txBody>
      </p:sp>
      <p:cxnSp>
        <p:nvCxnSpPr>
          <p:cNvPr id="31" name="c30">
            <a:extLst>
              <a:ext uri="{FF2B5EF4-FFF2-40B4-BE49-F238E27FC236}">
                <a16:creationId xmlns:a16="http://schemas.microsoft.com/office/drawing/2014/main" id="{D7117F42-E4AD-F717-8E39-22910095046E}"/>
              </a:ext>
            </a:extLst>
          </p:cNvPr>
          <p:cNvCxnSpPr>
            <a:cxnSpLocks/>
          </p:cNvCxnSpPr>
          <p:nvPr/>
        </p:nvCxnSpPr>
        <p:spPr>
          <a:xfrm>
            <a:off x="851524" y="4964844"/>
            <a:ext cx="8752" cy="826147"/>
          </a:xfrm>
          <a:prstGeom prst="straightConnector1">
            <a:avLst/>
          </a:prstGeom>
          <a:ln w="34000" cap="flat">
            <a:solidFill>
              <a:srgbClr val="0060AB"/>
            </a:solidFill>
          </a:ln>
        </p:spPr>
      </p:cxnSp>
      <p:cxnSp>
        <p:nvCxnSpPr>
          <p:cNvPr id="32" name="c31">
            <a:extLst>
              <a:ext uri="{FF2B5EF4-FFF2-40B4-BE49-F238E27FC236}">
                <a16:creationId xmlns:a16="http://schemas.microsoft.com/office/drawing/2014/main" id="{0A5F4D2B-C8B1-017F-CBFC-0284AE3EEB7C}"/>
              </a:ext>
            </a:extLst>
          </p:cNvPr>
          <p:cNvCxnSpPr>
            <a:cxnSpLocks/>
          </p:cNvCxnSpPr>
          <p:nvPr/>
        </p:nvCxnSpPr>
        <p:spPr>
          <a:xfrm>
            <a:off x="6335525" y="4964844"/>
            <a:ext cx="0" cy="826147"/>
          </a:xfrm>
          <a:prstGeom prst="straightConnector1">
            <a:avLst/>
          </a:prstGeom>
          <a:ln w="34000" cap="flat">
            <a:solidFill>
              <a:srgbClr val="9AA6B0"/>
            </a:solidFill>
          </a:ln>
        </p:spPr>
      </p:cxnSp>
    </p:spTree>
    <p:extLst>
      <p:ext uri="{BB962C8B-B14F-4D97-AF65-F5344CB8AC3E}">
        <p14:creationId xmlns:p14="http://schemas.microsoft.com/office/powerpoint/2010/main" val="19915293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5BDC7-A27E-14A1-CACE-D8BE7EB02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AA8FC08-BF00-25CD-CE28-119C0534F5EC}"/>
              </a:ext>
            </a:extLst>
          </p:cNvPr>
          <p:cNvSpPr/>
          <p:nvPr/>
        </p:nvSpPr>
        <p:spPr>
          <a:xfrm>
            <a:off x="841248" y="457200"/>
            <a:ext cx="105091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_tradnl" sz="1100" b="1" kern="0" spc="200" dirty="0">
                <a:solidFill>
                  <a:srgbClr val="1C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5 · CONSTRUCCIONES</a:t>
            </a:r>
            <a:endParaRPr lang="es-ES_tradnl" sz="1100" dirty="0"/>
          </a:p>
        </p:txBody>
      </p:sp>
      <p:pic>
        <p:nvPicPr>
          <p:cNvPr id="3" name="Image 0" descr="figs/uax_color.png">
            <a:extLst>
              <a:ext uri="{FF2B5EF4-FFF2-40B4-BE49-F238E27FC236}">
                <a16:creationId xmlns:a16="http://schemas.microsoft.com/office/drawing/2014/main" id="{5A79689D-9A6F-A35F-DB15-65022AE8C4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6854" y="164593"/>
            <a:ext cx="1932677" cy="749808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72093040-DB79-57C5-38CA-CA2C0BE5DB22}"/>
              </a:ext>
            </a:extLst>
          </p:cNvPr>
          <p:cNvSpPr/>
          <p:nvPr/>
        </p:nvSpPr>
        <p:spPr>
          <a:xfrm>
            <a:off x="841248" y="731520"/>
            <a:ext cx="1050919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_tradnl" sz="3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Cifrado — esquema de Regev</a:t>
            </a:r>
            <a:endParaRPr lang="es-ES_tradnl" sz="30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3C180C78-EFC3-0374-7D89-CDE5AA38AB54}"/>
              </a:ext>
            </a:extLst>
          </p:cNvPr>
          <p:cNvSpPr/>
          <p:nvPr/>
        </p:nvSpPr>
        <p:spPr>
          <a:xfrm>
            <a:off x="841248" y="1481328"/>
            <a:ext cx="10509199" cy="0"/>
          </a:xfrm>
          <a:prstGeom prst="line">
            <a:avLst/>
          </a:prstGeom>
          <a:noFill/>
          <a:ln w="12700">
            <a:solidFill>
              <a:srgbClr val="C8CFD4"/>
            </a:solidFill>
            <a:prstDash val="solid"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E5B6B20A-C21E-FB81-2009-A1628A60D3BE}"/>
              </a:ext>
            </a:extLst>
          </p:cNvPr>
          <p:cNvSpPr/>
          <p:nvPr/>
        </p:nvSpPr>
        <p:spPr>
          <a:xfrm>
            <a:off x="841248" y="6400800"/>
            <a:ext cx="10509199" cy="0"/>
          </a:xfrm>
          <a:prstGeom prst="line">
            <a:avLst/>
          </a:prstGeom>
          <a:noFill/>
          <a:ln w="9525">
            <a:solidFill>
              <a:srgbClr val="E7EBEE"/>
            </a:solidFill>
            <a:prstDash val="solid"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C638C1BB-B8B7-A1AE-F445-C6AA557D5F13}"/>
              </a:ext>
            </a:extLst>
          </p:cNvPr>
          <p:cNvSpPr/>
          <p:nvPr/>
        </p:nvSpPr>
        <p:spPr>
          <a:xfrm>
            <a:off x="841248" y="645566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850" b="1" kern="0" spc="200" dirty="0">
                <a:solidFill>
                  <a:srgbClr val="AE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POSTCUÁNTICA · LEARNING WITH ERRORS</a:t>
            </a:r>
            <a:endParaRPr lang="es-ES_tradnl" sz="85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0D51892A-4CE4-E391-99FE-D1D3618710F5}"/>
              </a:ext>
            </a:extLst>
          </p:cNvPr>
          <p:cNvSpPr/>
          <p:nvPr/>
        </p:nvSpPr>
        <p:spPr>
          <a:xfrm>
            <a:off x="9521647" y="64556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_tradnl" sz="850" b="0" dirty="0">
                <a:solidFill>
                  <a:srgbClr val="AEB6BD"/>
                </a:solidFill>
                <a:latin typeface="Calibri"/>
              </a:rPr>
              <a:t>0</a:t>
            </a:r>
            <a:r>
              <a:rPr lang="es-ES_tradnl" sz="850" dirty="0">
                <a:solidFill>
                  <a:srgbClr val="AEB6BD"/>
                </a:solidFill>
                <a:latin typeface="Calibri"/>
              </a:rPr>
              <a:t>6 </a:t>
            </a:r>
            <a:r>
              <a:rPr lang="es-ES_tradnl" sz="850" b="0" dirty="0">
                <a:solidFill>
                  <a:srgbClr val="AEB6BD"/>
                </a:solidFill>
                <a:latin typeface="Calibri"/>
              </a:rPr>
              <a:t>/ 13</a:t>
            </a:r>
            <a:endParaRPr lang="es-ES_tradnl" sz="850" dirty="0"/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E428A033-9050-51E8-EF25-AC1AB56906F1}"/>
              </a:ext>
            </a:extLst>
          </p:cNvPr>
          <p:cNvSpPr/>
          <p:nvPr/>
        </p:nvSpPr>
        <p:spPr>
          <a:xfrm>
            <a:off x="4187952" y="1691640"/>
            <a:ext cx="0" cy="1417320"/>
          </a:xfrm>
          <a:prstGeom prst="line">
            <a:avLst/>
          </a:prstGeom>
          <a:noFill/>
          <a:ln w="12700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DB7E094B-39E2-32B8-E601-FED00387E160}"/>
              </a:ext>
            </a:extLst>
          </p:cNvPr>
          <p:cNvSpPr/>
          <p:nvPr/>
        </p:nvSpPr>
        <p:spPr>
          <a:xfrm>
            <a:off x="8010144" y="1691640"/>
            <a:ext cx="0" cy="1417320"/>
          </a:xfrm>
          <a:prstGeom prst="line">
            <a:avLst/>
          </a:prstGeom>
          <a:noFill/>
          <a:ln w="12700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435C355D-4A5B-DB1F-36EC-4810810CC9F9}"/>
              </a:ext>
            </a:extLst>
          </p:cNvPr>
          <p:cNvSpPr/>
          <p:nvPr/>
        </p:nvSpPr>
        <p:spPr>
          <a:xfrm>
            <a:off x="841249" y="1668779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ES_tradnl" sz="2600" b="1" dirty="0">
                <a:solidFill>
                  <a:srgbClr val="1C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s-ES_tradnl" sz="2600" dirty="0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F109FD43-3D6C-5150-E1B7-94338ADD3566}"/>
              </a:ext>
            </a:extLst>
          </p:cNvPr>
          <p:cNvSpPr/>
          <p:nvPr/>
        </p:nvSpPr>
        <p:spPr>
          <a:xfrm>
            <a:off x="1298449" y="1723643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ES_tradnl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Claves</a:t>
            </a:r>
            <a:endParaRPr lang="es-ES_tradnl" sz="14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6364FA23-DD13-023A-9A4F-E18DA5EC1D23}"/>
              </a:ext>
            </a:extLst>
          </p:cNvPr>
          <p:cNvSpPr/>
          <p:nvPr/>
        </p:nvSpPr>
        <p:spPr>
          <a:xfrm>
            <a:off x="4512565" y="16916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ES_tradnl" sz="2600" b="1" dirty="0">
                <a:solidFill>
                  <a:srgbClr val="1C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s-ES_tradnl" sz="2600" dirty="0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B9F309E4-6A58-BE98-1CCB-3686AB7E343B}"/>
              </a:ext>
            </a:extLst>
          </p:cNvPr>
          <p:cNvSpPr/>
          <p:nvPr/>
        </p:nvSpPr>
        <p:spPr>
          <a:xfrm>
            <a:off x="4969765" y="1746504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ES_tradnl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Cifrado del bit μ</a:t>
            </a:r>
            <a:endParaRPr lang="es-ES_tradnl" sz="1400" dirty="0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0F59D831-3095-212B-3811-D15ECF5D46F4}"/>
              </a:ext>
            </a:extLst>
          </p:cNvPr>
          <p:cNvSpPr/>
          <p:nvPr/>
        </p:nvSpPr>
        <p:spPr>
          <a:xfrm>
            <a:off x="8323794" y="16916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ES_tradnl" sz="2600" b="1" dirty="0">
                <a:solidFill>
                  <a:srgbClr val="1C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s-ES_tradnl" sz="2600" dirty="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0AD78353-9112-8C83-BE82-167CC7E81BCB}"/>
              </a:ext>
            </a:extLst>
          </p:cNvPr>
          <p:cNvSpPr/>
          <p:nvPr/>
        </p:nvSpPr>
        <p:spPr>
          <a:xfrm>
            <a:off x="8780994" y="1746504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ES_tradnl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Descifrado</a:t>
            </a:r>
            <a:endParaRPr lang="es-ES_tradnl" sz="1400" dirty="0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7F657604-0B71-B454-106E-E70BF303270C}"/>
              </a:ext>
            </a:extLst>
          </p:cNvPr>
          <p:cNvSpPr/>
          <p:nvPr/>
        </p:nvSpPr>
        <p:spPr>
          <a:xfrm>
            <a:off x="841249" y="2327147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ES_tradnl" sz="1350" dirty="0">
                <a:solidFill>
                  <a:srgbClr val="2B30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Pública </a:t>
            </a:r>
            <a:r>
              <a:rPr lang="es-ES_tradnl" sz="1350" b="1" dirty="0">
                <a:solidFill>
                  <a:srgbClr val="1C6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(A, b)</a:t>
            </a:r>
            <a:r>
              <a:rPr lang="es-ES_tradnl" sz="1350" dirty="0">
                <a:solidFill>
                  <a:srgbClr val="2B30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 b = </a:t>
            </a:r>
            <a:r>
              <a:rPr lang="es-ES_tradnl" sz="1350" dirty="0" err="1">
                <a:solidFill>
                  <a:srgbClr val="2B30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A·s</a:t>
            </a:r>
            <a:r>
              <a:rPr lang="es-ES_tradnl" sz="1350" dirty="0">
                <a:solidFill>
                  <a:srgbClr val="2B30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e</a:t>
            </a:r>
            <a:endParaRPr lang="es-ES_tradnl" sz="1350" dirty="0"/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9710A040-220C-B025-5CA6-C7A30C335159}"/>
              </a:ext>
            </a:extLst>
          </p:cNvPr>
          <p:cNvSpPr/>
          <p:nvPr/>
        </p:nvSpPr>
        <p:spPr>
          <a:xfrm>
            <a:off x="841249" y="2711195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ES_tradnl" sz="1350" dirty="0">
                <a:solidFill>
                  <a:srgbClr val="8C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Privada: s.</a:t>
            </a:r>
            <a:endParaRPr lang="es-ES_tradnl" sz="1350" dirty="0"/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7C3B92AE-48AD-81A4-25ED-39FD590B019F}"/>
              </a:ext>
            </a:extLst>
          </p:cNvPr>
          <p:cNvSpPr/>
          <p:nvPr/>
        </p:nvSpPr>
        <p:spPr>
          <a:xfrm>
            <a:off x="4512565" y="235000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ES_tradnl" sz="1350" dirty="0">
                <a:solidFill>
                  <a:srgbClr val="2B30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 = A</a:t>
            </a:r>
            <a:r>
              <a:rPr lang="es-ES_tradnl" sz="1350" baseline="30000" dirty="0">
                <a:solidFill>
                  <a:srgbClr val="2B30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r>
              <a:rPr lang="es-ES_tradnl" sz="1350" dirty="0">
                <a:solidFill>
                  <a:srgbClr val="2B30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endParaRPr lang="es-ES_tradnl" sz="1350" dirty="0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6740CFAE-F13B-504A-B83F-CE919417EABD}"/>
              </a:ext>
            </a:extLst>
          </p:cNvPr>
          <p:cNvSpPr/>
          <p:nvPr/>
        </p:nvSpPr>
        <p:spPr>
          <a:xfrm>
            <a:off x="4512565" y="2734056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ES_tradnl" sz="1350" dirty="0">
                <a:solidFill>
                  <a:srgbClr val="2B30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= b</a:t>
            </a:r>
            <a:r>
              <a:rPr lang="es-ES_tradnl" sz="1350" baseline="30000" dirty="0">
                <a:solidFill>
                  <a:srgbClr val="2B30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r>
              <a:rPr lang="es-ES_tradnl" sz="1350" dirty="0">
                <a:solidFill>
                  <a:srgbClr val="2B30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+ μ·⌊q/2⌋</a:t>
            </a:r>
            <a:endParaRPr lang="es-ES_tradnl" sz="1350" dirty="0"/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F89E0177-F8B9-1494-368A-378B73ED402D}"/>
              </a:ext>
            </a:extLst>
          </p:cNvPr>
          <p:cNvSpPr/>
          <p:nvPr/>
        </p:nvSpPr>
        <p:spPr>
          <a:xfrm>
            <a:off x="8323794" y="235000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ES_tradnl" sz="1350" dirty="0">
                <a:solidFill>
                  <a:srgbClr val="2B30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= v − ⟨u, s⟩</a:t>
            </a:r>
            <a:endParaRPr lang="es-ES_tradnl" sz="1350" dirty="0"/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63947491-6D22-E643-D6CC-2DEF6A4A15BD}"/>
              </a:ext>
            </a:extLst>
          </p:cNvPr>
          <p:cNvSpPr/>
          <p:nvPr/>
        </p:nvSpPr>
        <p:spPr>
          <a:xfrm>
            <a:off x="8323794" y="2734056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ES_tradnl" sz="1350" dirty="0">
                <a:solidFill>
                  <a:srgbClr val="8C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aísla el ruido + μ</a:t>
            </a:r>
            <a:endParaRPr lang="es-ES_tradnl" sz="1350" dirty="0"/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C2955A1D-D2FF-803E-F637-46C48BCB061B}"/>
              </a:ext>
            </a:extLst>
          </p:cNvPr>
          <p:cNvSpPr/>
          <p:nvPr/>
        </p:nvSpPr>
        <p:spPr>
          <a:xfrm>
            <a:off x="2712720" y="331012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s-ES_tradnl" sz="1100" i="1" dirty="0">
                <a:solidFill>
                  <a:srgbClr val="8C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 q/4</a:t>
            </a:r>
            <a:endParaRPr lang="es-ES_tradnl" sz="1100" dirty="0"/>
          </a:p>
        </p:txBody>
      </p:sp>
      <p:sp>
        <p:nvSpPr>
          <p:cNvPr id="25" name="Shape 21">
            <a:extLst>
              <a:ext uri="{FF2B5EF4-FFF2-40B4-BE49-F238E27FC236}">
                <a16:creationId xmlns:a16="http://schemas.microsoft.com/office/drawing/2014/main" id="{387BD23C-8B7B-D6BA-1537-32E31CFEA9B5}"/>
              </a:ext>
            </a:extLst>
          </p:cNvPr>
          <p:cNvSpPr/>
          <p:nvPr/>
        </p:nvSpPr>
        <p:spPr>
          <a:xfrm>
            <a:off x="2758440" y="3621024"/>
            <a:ext cx="1600200" cy="0"/>
          </a:xfrm>
          <a:prstGeom prst="line">
            <a:avLst/>
          </a:prstGeom>
          <a:noFill/>
          <a:ln w="15875">
            <a:solidFill>
              <a:srgbClr val="1B2430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26" name="Shape 22">
            <a:extLst>
              <a:ext uri="{FF2B5EF4-FFF2-40B4-BE49-F238E27FC236}">
                <a16:creationId xmlns:a16="http://schemas.microsoft.com/office/drawing/2014/main" id="{6BCFC97F-9671-4468-E1B8-BFADAA1B8EBF}"/>
              </a:ext>
            </a:extLst>
          </p:cNvPr>
          <p:cNvSpPr/>
          <p:nvPr/>
        </p:nvSpPr>
        <p:spPr>
          <a:xfrm>
            <a:off x="2712720" y="3831336"/>
            <a:ext cx="1691640" cy="384048"/>
          </a:xfrm>
          <a:prstGeom prst="rect">
            <a:avLst/>
          </a:prstGeom>
          <a:solidFill>
            <a:srgbClr val="DCE7F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C743B8FA-99D7-12B0-6E37-B95C1D349899}"/>
              </a:ext>
            </a:extLst>
          </p:cNvPr>
          <p:cNvSpPr/>
          <p:nvPr/>
        </p:nvSpPr>
        <p:spPr>
          <a:xfrm>
            <a:off x="4404360" y="3831336"/>
            <a:ext cx="3383280" cy="384048"/>
          </a:xfrm>
          <a:prstGeom prst="rect">
            <a:avLst/>
          </a:prstGeom>
          <a:solidFill>
            <a:srgbClr val="F7E2D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28" name="Shape 24">
            <a:extLst>
              <a:ext uri="{FF2B5EF4-FFF2-40B4-BE49-F238E27FC236}">
                <a16:creationId xmlns:a16="http://schemas.microsoft.com/office/drawing/2014/main" id="{DC352559-D236-5778-F6D1-380AF0CAF2E6}"/>
              </a:ext>
            </a:extLst>
          </p:cNvPr>
          <p:cNvSpPr/>
          <p:nvPr/>
        </p:nvSpPr>
        <p:spPr>
          <a:xfrm>
            <a:off x="7787640" y="3831336"/>
            <a:ext cx="1691640" cy="384048"/>
          </a:xfrm>
          <a:prstGeom prst="rect">
            <a:avLst/>
          </a:prstGeom>
          <a:solidFill>
            <a:srgbClr val="DCE7F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BF3F375C-4A53-6706-6903-D0F53D4C74A4}"/>
              </a:ext>
            </a:extLst>
          </p:cNvPr>
          <p:cNvSpPr/>
          <p:nvPr/>
        </p:nvSpPr>
        <p:spPr>
          <a:xfrm>
            <a:off x="2712720" y="3831336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1200" b="1" dirty="0">
                <a:solidFill>
                  <a:srgbClr val="2E5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= 0</a:t>
            </a:r>
            <a:endParaRPr lang="es-ES_tradnl" sz="1200" dirty="0"/>
          </a:p>
        </p:txBody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9EA6766B-8012-1B33-7863-6F47D9D74992}"/>
              </a:ext>
            </a:extLst>
          </p:cNvPr>
          <p:cNvSpPr/>
          <p:nvPr/>
        </p:nvSpPr>
        <p:spPr>
          <a:xfrm>
            <a:off x="4404360" y="383133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1200" b="1" dirty="0">
                <a:solidFill>
                  <a:srgbClr val="B25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= 1</a:t>
            </a:r>
            <a:endParaRPr lang="es-ES_tradnl" sz="1200" dirty="0"/>
          </a:p>
        </p:txBody>
      </p:sp>
      <p:sp>
        <p:nvSpPr>
          <p:cNvPr id="31" name="Text 27">
            <a:extLst>
              <a:ext uri="{FF2B5EF4-FFF2-40B4-BE49-F238E27FC236}">
                <a16:creationId xmlns:a16="http://schemas.microsoft.com/office/drawing/2014/main" id="{A1A9B965-B94E-2062-8DC3-D93551899A64}"/>
              </a:ext>
            </a:extLst>
          </p:cNvPr>
          <p:cNvSpPr/>
          <p:nvPr/>
        </p:nvSpPr>
        <p:spPr>
          <a:xfrm>
            <a:off x="7787640" y="3831336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1200" b="1" dirty="0">
                <a:solidFill>
                  <a:srgbClr val="2E5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= 0</a:t>
            </a:r>
            <a:endParaRPr lang="es-ES_tradnl" sz="1200" dirty="0"/>
          </a:p>
        </p:txBody>
      </p:sp>
      <p:sp>
        <p:nvSpPr>
          <p:cNvPr id="32" name="Shape 28">
            <a:extLst>
              <a:ext uri="{FF2B5EF4-FFF2-40B4-BE49-F238E27FC236}">
                <a16:creationId xmlns:a16="http://schemas.microsoft.com/office/drawing/2014/main" id="{E1A03260-3867-C694-EB53-B244EE827BB5}"/>
              </a:ext>
            </a:extLst>
          </p:cNvPr>
          <p:cNvSpPr/>
          <p:nvPr/>
        </p:nvSpPr>
        <p:spPr>
          <a:xfrm>
            <a:off x="2575560" y="4325112"/>
            <a:ext cx="7040880" cy="0"/>
          </a:xfrm>
          <a:prstGeom prst="line">
            <a:avLst/>
          </a:prstGeom>
          <a:noFill/>
          <a:ln w="15875">
            <a:solidFill>
              <a:srgbClr val="1B2430"/>
            </a:solidFill>
            <a:prstDash val="solid"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33" name="Text 29">
            <a:extLst>
              <a:ext uri="{FF2B5EF4-FFF2-40B4-BE49-F238E27FC236}">
                <a16:creationId xmlns:a16="http://schemas.microsoft.com/office/drawing/2014/main" id="{D8C0F212-BE3F-D359-3891-82877BC5BEF8}"/>
              </a:ext>
            </a:extLst>
          </p:cNvPr>
          <p:cNvSpPr/>
          <p:nvPr/>
        </p:nvSpPr>
        <p:spPr>
          <a:xfrm>
            <a:off x="2255520" y="43799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_tradnl" sz="1200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s-ES_tradnl" sz="1200" dirty="0"/>
          </a:p>
        </p:txBody>
      </p:sp>
      <p:sp>
        <p:nvSpPr>
          <p:cNvPr id="34" name="Text 30">
            <a:extLst>
              <a:ext uri="{FF2B5EF4-FFF2-40B4-BE49-F238E27FC236}">
                <a16:creationId xmlns:a16="http://schemas.microsoft.com/office/drawing/2014/main" id="{7D8402B1-520D-D3E7-316E-B1285914C5F6}"/>
              </a:ext>
            </a:extLst>
          </p:cNvPr>
          <p:cNvSpPr/>
          <p:nvPr/>
        </p:nvSpPr>
        <p:spPr>
          <a:xfrm>
            <a:off x="3947160" y="43799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_tradnl" sz="1200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q/4</a:t>
            </a:r>
            <a:endParaRPr lang="es-ES_tradnl" sz="1200" dirty="0"/>
          </a:p>
        </p:txBody>
      </p:sp>
      <p:sp>
        <p:nvSpPr>
          <p:cNvPr id="35" name="Text 31">
            <a:extLst>
              <a:ext uri="{FF2B5EF4-FFF2-40B4-BE49-F238E27FC236}">
                <a16:creationId xmlns:a16="http://schemas.microsoft.com/office/drawing/2014/main" id="{FCFF9077-7074-4DAD-55AE-2C0A1E97078A}"/>
              </a:ext>
            </a:extLst>
          </p:cNvPr>
          <p:cNvSpPr/>
          <p:nvPr/>
        </p:nvSpPr>
        <p:spPr>
          <a:xfrm>
            <a:off x="5638800" y="43799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_tradnl" sz="1200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q/2</a:t>
            </a:r>
            <a:endParaRPr lang="es-ES_tradnl" sz="1200" dirty="0"/>
          </a:p>
        </p:txBody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27845363-640E-E703-D582-3E62222E71EA}"/>
              </a:ext>
            </a:extLst>
          </p:cNvPr>
          <p:cNvSpPr/>
          <p:nvPr/>
        </p:nvSpPr>
        <p:spPr>
          <a:xfrm>
            <a:off x="7330440" y="43799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_tradnl" sz="1200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3q/4</a:t>
            </a:r>
            <a:endParaRPr lang="es-ES_tradnl" sz="1200" dirty="0"/>
          </a:p>
        </p:txBody>
      </p:sp>
      <p:sp>
        <p:nvSpPr>
          <p:cNvPr id="37" name="Text 33">
            <a:extLst>
              <a:ext uri="{FF2B5EF4-FFF2-40B4-BE49-F238E27FC236}">
                <a16:creationId xmlns:a16="http://schemas.microsoft.com/office/drawing/2014/main" id="{78292A10-B31F-68F7-AE5C-E504A33CA477}"/>
              </a:ext>
            </a:extLst>
          </p:cNvPr>
          <p:cNvSpPr/>
          <p:nvPr/>
        </p:nvSpPr>
        <p:spPr>
          <a:xfrm>
            <a:off x="9022080" y="43799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_tradnl" sz="1200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s-ES_tradnl" sz="1200" dirty="0"/>
          </a:p>
        </p:txBody>
      </p:sp>
      <p:sp>
        <p:nvSpPr>
          <p:cNvPr id="38" name="Text 34">
            <a:extLst>
              <a:ext uri="{FF2B5EF4-FFF2-40B4-BE49-F238E27FC236}">
                <a16:creationId xmlns:a16="http://schemas.microsoft.com/office/drawing/2014/main" id="{807E7D46-7C1D-8C4C-3480-D26F18C017DB}"/>
              </a:ext>
            </a:extLst>
          </p:cNvPr>
          <p:cNvSpPr/>
          <p:nvPr/>
        </p:nvSpPr>
        <p:spPr>
          <a:xfrm>
            <a:off x="649224" y="4718305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ES_tradnl" sz="1150" i="1" dirty="0">
                <a:solidFill>
                  <a:srgbClr val="8C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|ruido| &lt; q/4 el bit se recupera; si lo supera, falla.</a:t>
            </a:r>
            <a:endParaRPr lang="es-ES_tradnl" sz="1150" dirty="0"/>
          </a:p>
        </p:txBody>
      </p:sp>
      <p:sp>
        <p:nvSpPr>
          <p:cNvPr id="39" name="Shape 36">
            <a:extLst>
              <a:ext uri="{FF2B5EF4-FFF2-40B4-BE49-F238E27FC236}">
                <a16:creationId xmlns:a16="http://schemas.microsoft.com/office/drawing/2014/main" id="{487AE6CA-6246-7414-B7F0-675232FBABEF}"/>
              </a:ext>
            </a:extLst>
          </p:cNvPr>
          <p:cNvSpPr/>
          <p:nvPr/>
        </p:nvSpPr>
        <p:spPr>
          <a:xfrm>
            <a:off x="1884704" y="5138926"/>
            <a:ext cx="41148" cy="713232"/>
          </a:xfrm>
          <a:prstGeom prst="rect">
            <a:avLst/>
          </a:prstGeom>
          <a:solidFill>
            <a:srgbClr val="1C6CB0"/>
          </a:solidFill>
          <a:ln/>
        </p:spPr>
        <p:txBody>
          <a:bodyPr/>
          <a:lstStyle/>
          <a:p>
            <a:endParaRPr lang="es-ES_tradnl" dirty="0"/>
          </a:p>
        </p:txBody>
      </p:sp>
      <p:sp>
        <p:nvSpPr>
          <p:cNvPr id="40" name="Text 37">
            <a:extLst>
              <a:ext uri="{FF2B5EF4-FFF2-40B4-BE49-F238E27FC236}">
                <a16:creationId xmlns:a16="http://schemas.microsoft.com/office/drawing/2014/main" id="{72A9851B-4C55-441F-E0B6-ECC634343ABF}"/>
              </a:ext>
            </a:extLst>
          </p:cNvPr>
          <p:cNvSpPr/>
          <p:nvPr/>
        </p:nvSpPr>
        <p:spPr>
          <a:xfrm>
            <a:off x="2052605" y="522122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ES_tradnl" sz="1050" b="1" kern="0" spc="200" dirty="0">
                <a:solidFill>
                  <a:srgbClr val="1C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 CENTRAL</a:t>
            </a:r>
          </a:p>
        </p:txBody>
      </p:sp>
      <p:sp>
        <p:nvSpPr>
          <p:cNvPr id="41" name="Text 38">
            <a:extLst>
              <a:ext uri="{FF2B5EF4-FFF2-40B4-BE49-F238E27FC236}">
                <a16:creationId xmlns:a16="http://schemas.microsoft.com/office/drawing/2014/main" id="{3DC675D3-C782-5262-B921-DAF3CA58F607}"/>
              </a:ext>
            </a:extLst>
          </p:cNvPr>
          <p:cNvSpPr/>
          <p:nvPr/>
        </p:nvSpPr>
        <p:spPr>
          <a:xfrm>
            <a:off x="2052605" y="5422390"/>
            <a:ext cx="41954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_tradnl" sz="3200" b="1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= e</a:t>
            </a:r>
            <a:r>
              <a:rPr lang="es-ES_tradnl" sz="3200" b="1" baseline="300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r>
              <a:rPr lang="es-ES_tradnl" sz="3200" b="1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+ μ·⌊q/2⌋</a:t>
            </a:r>
            <a:endParaRPr lang="es-ES_tradnl" sz="3200" dirty="0"/>
          </a:p>
        </p:txBody>
      </p:sp>
      <p:sp>
        <p:nvSpPr>
          <p:cNvPr id="42" name="Text 39">
            <a:extLst>
              <a:ext uri="{FF2B5EF4-FFF2-40B4-BE49-F238E27FC236}">
                <a16:creationId xmlns:a16="http://schemas.microsoft.com/office/drawing/2014/main" id="{E0DD9B1E-86FE-E2E0-A732-FFD151F69F47}"/>
              </a:ext>
            </a:extLst>
          </p:cNvPr>
          <p:cNvSpPr/>
          <p:nvPr/>
        </p:nvSpPr>
        <p:spPr>
          <a:xfrm>
            <a:off x="6374780" y="5687564"/>
            <a:ext cx="4110712" cy="137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_tradnl" sz="1250" i="1" dirty="0">
                <a:solidFill>
                  <a:srgbClr val="2B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secreto se cancela: queda solo el ruido más el bit codificado.</a:t>
            </a:r>
            <a:endParaRPr lang="es-ES_tradnl" sz="1250" dirty="0"/>
          </a:p>
        </p:txBody>
      </p:sp>
      <p:sp>
        <p:nvSpPr>
          <p:cNvPr id="43" name="Text 40">
            <a:extLst>
              <a:ext uri="{FF2B5EF4-FFF2-40B4-BE49-F238E27FC236}">
                <a16:creationId xmlns:a16="http://schemas.microsoft.com/office/drawing/2014/main" id="{45E863E9-3018-C4B1-FF5B-79BCC69E05EC}"/>
              </a:ext>
            </a:extLst>
          </p:cNvPr>
          <p:cNvSpPr/>
          <p:nvPr/>
        </p:nvSpPr>
        <p:spPr>
          <a:xfrm>
            <a:off x="841248" y="6199633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ES_tradnl" sz="950" i="1" dirty="0">
                <a:solidFill>
                  <a:srgbClr val="8C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conceptual de FrodoKEM y ML-KEM.</a:t>
            </a:r>
            <a:endParaRPr lang="es-ES_tradnl" sz="950" dirty="0"/>
          </a:p>
        </p:txBody>
      </p:sp>
      <p:sp>
        <p:nvSpPr>
          <p:cNvPr id="44" name="Shape 2">
            <a:extLst>
              <a:ext uri="{FF2B5EF4-FFF2-40B4-BE49-F238E27FC236}">
                <a16:creationId xmlns:a16="http://schemas.microsoft.com/office/drawing/2014/main" id="{3FAD8B74-D5A3-FCCF-DEAC-0CAF63BF40D1}"/>
              </a:ext>
            </a:extLst>
          </p:cNvPr>
          <p:cNvSpPr/>
          <p:nvPr/>
        </p:nvSpPr>
        <p:spPr>
          <a:xfrm>
            <a:off x="841248" y="3310128"/>
            <a:ext cx="10509199" cy="0"/>
          </a:xfrm>
          <a:prstGeom prst="line">
            <a:avLst/>
          </a:prstGeom>
          <a:noFill/>
          <a:ln w="12700">
            <a:solidFill>
              <a:srgbClr val="C8CFD4"/>
            </a:solidFill>
            <a:prstDash val="solid"/>
          </a:ln>
        </p:spPr>
        <p:txBody>
          <a:bodyPr/>
          <a:lstStyle/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4129292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1B779-78D8-2BC2-4185-109F90479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258E4FC-55C8-3B1E-3022-3DEF35EF5C96}"/>
              </a:ext>
            </a:extLst>
          </p:cNvPr>
          <p:cNvSpPr/>
          <p:nvPr/>
        </p:nvSpPr>
        <p:spPr>
          <a:xfrm>
            <a:off x="841248" y="457200"/>
            <a:ext cx="105091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_tradnl" sz="1150" b="1" kern="0" spc="300" dirty="0">
                <a:solidFill>
                  <a:srgbClr val="006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5 · CONSTRUCCIONES</a:t>
            </a:r>
            <a:endParaRPr lang="es-ES_tradnl" sz="1150" dirty="0"/>
          </a:p>
        </p:txBody>
      </p:sp>
      <p:pic>
        <p:nvPicPr>
          <p:cNvPr id="3" name="Image 0" descr="figs/uax_color.png">
            <a:extLst>
              <a:ext uri="{FF2B5EF4-FFF2-40B4-BE49-F238E27FC236}">
                <a16:creationId xmlns:a16="http://schemas.microsoft.com/office/drawing/2014/main" id="{B89376A3-4238-49FD-B8BC-0A64B40C65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6854" y="164593"/>
            <a:ext cx="1932677" cy="749808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2704C256-F8ED-1307-B666-2DDD66173FFC}"/>
              </a:ext>
            </a:extLst>
          </p:cNvPr>
          <p:cNvSpPr/>
          <p:nvPr/>
        </p:nvSpPr>
        <p:spPr>
          <a:xfrm>
            <a:off x="841248" y="731520"/>
            <a:ext cx="1050919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2800" b="1" dirty="0">
                <a:latin typeface="Cambria"/>
              </a:rPr>
              <a:t>ML-KEM / Kyber y ML-DSA / </a:t>
            </a:r>
            <a:r>
              <a:rPr lang="es-ES" sz="2800" b="1" dirty="0" err="1">
                <a:latin typeface="Cambria"/>
              </a:rPr>
              <a:t>Dilithium</a:t>
            </a:r>
            <a:endParaRPr lang="es-ES_tradnl" sz="30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7B9CE407-3758-521E-EEAA-5D3946665928}"/>
              </a:ext>
            </a:extLst>
          </p:cNvPr>
          <p:cNvSpPr/>
          <p:nvPr/>
        </p:nvSpPr>
        <p:spPr>
          <a:xfrm>
            <a:off x="841248" y="1481328"/>
            <a:ext cx="10509199" cy="0"/>
          </a:xfrm>
          <a:prstGeom prst="line">
            <a:avLst/>
          </a:prstGeom>
          <a:noFill/>
          <a:ln w="12700">
            <a:solidFill>
              <a:srgbClr val="C8CFD4"/>
            </a:solidFill>
            <a:prstDash val="solid"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E6902692-7DC5-F8B4-73B8-74E88B67ECC2}"/>
              </a:ext>
            </a:extLst>
          </p:cNvPr>
          <p:cNvSpPr/>
          <p:nvPr/>
        </p:nvSpPr>
        <p:spPr>
          <a:xfrm>
            <a:off x="841248" y="6400800"/>
            <a:ext cx="10509199" cy="0"/>
          </a:xfrm>
          <a:prstGeom prst="line">
            <a:avLst/>
          </a:prstGeom>
          <a:noFill/>
          <a:ln w="9525">
            <a:solidFill>
              <a:srgbClr val="E7EBEE"/>
            </a:solidFill>
            <a:prstDash val="solid"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D08F9FB1-4BF7-9C8A-E370-14E68D824BB0}"/>
              </a:ext>
            </a:extLst>
          </p:cNvPr>
          <p:cNvSpPr/>
          <p:nvPr/>
        </p:nvSpPr>
        <p:spPr>
          <a:xfrm>
            <a:off x="841248" y="645566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850" b="1" kern="0" spc="200" dirty="0">
                <a:solidFill>
                  <a:srgbClr val="AE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POSTCUÁNTICA · LEARNING WITH ERRORS</a:t>
            </a:r>
            <a:endParaRPr lang="es-ES_tradnl" sz="85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860B19DF-4DCA-303F-1394-27B7E058C9A8}"/>
              </a:ext>
            </a:extLst>
          </p:cNvPr>
          <p:cNvSpPr/>
          <p:nvPr/>
        </p:nvSpPr>
        <p:spPr>
          <a:xfrm>
            <a:off x="9521647" y="64556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_tradnl" sz="850" b="0" dirty="0">
                <a:solidFill>
                  <a:srgbClr val="AEB6BD"/>
                </a:solidFill>
                <a:latin typeface="Calibri"/>
              </a:rPr>
              <a:t>07 / 13</a:t>
            </a:r>
            <a:endParaRPr lang="es-ES_tradnl" sz="85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5910521-CDA7-F466-DB74-DAB0BAB47711}"/>
              </a:ext>
            </a:extLst>
          </p:cNvPr>
          <p:cNvSpPr txBox="1"/>
          <p:nvPr/>
        </p:nvSpPr>
        <p:spPr>
          <a:xfrm>
            <a:off x="1115568" y="2848357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1" i="0" spc="40">
                <a:solidFill>
                  <a:srgbClr val="1B2430"/>
                </a:solidFill>
                <a:latin typeface="Calibri"/>
              </a:rPr>
              <a:t>BOB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F70408B-577E-00C8-0F05-7F11C6AC5646}"/>
              </a:ext>
            </a:extLst>
          </p:cNvPr>
          <p:cNvSpPr txBox="1"/>
          <p:nvPr/>
        </p:nvSpPr>
        <p:spPr>
          <a:xfrm>
            <a:off x="4041648" y="2848357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100" b="1" i="0" spc="40">
                <a:solidFill>
                  <a:srgbClr val="1B2430"/>
                </a:solidFill>
                <a:latin typeface="Calibri"/>
              </a:rPr>
              <a:t>ALICE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D8CB585-F62F-CCEA-6DBC-03AAAB5A4673}"/>
              </a:ext>
            </a:extLst>
          </p:cNvPr>
          <p:cNvSpPr txBox="1"/>
          <p:nvPr/>
        </p:nvSpPr>
        <p:spPr>
          <a:xfrm>
            <a:off x="877824" y="3140965"/>
            <a:ext cx="49377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200" b="0" i="0">
                <a:solidFill>
                  <a:srgbClr val="36424E"/>
                </a:solidFill>
                <a:latin typeface="Courier New"/>
              </a:rPr>
              <a:t>publica  (A, b)</a:t>
            </a:r>
          </a:p>
        </p:txBody>
      </p:sp>
      <p:cxnSp>
        <p:nvCxnSpPr>
          <p:cNvPr id="26" name="Connector 25">
            <a:extLst>
              <a:ext uri="{FF2B5EF4-FFF2-40B4-BE49-F238E27FC236}">
                <a16:creationId xmlns:a16="http://schemas.microsoft.com/office/drawing/2014/main" id="{759C35ED-1307-6AFC-8C13-35918E8C4BC6}"/>
              </a:ext>
            </a:extLst>
          </p:cNvPr>
          <p:cNvCxnSpPr/>
          <p:nvPr/>
        </p:nvCxnSpPr>
        <p:spPr>
          <a:xfrm flipH="1">
            <a:off x="1115568" y="3424429"/>
            <a:ext cx="4389120" cy="0"/>
          </a:xfrm>
          <a:prstGeom prst="line">
            <a:avLst/>
          </a:prstGeom>
          <a:ln w="15875">
            <a:solidFill>
              <a:srgbClr val="1B24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1678C436-EAB7-B2C1-D413-5AD0964ECB07}"/>
              </a:ext>
            </a:extLst>
          </p:cNvPr>
          <p:cNvSpPr txBox="1"/>
          <p:nvPr/>
        </p:nvSpPr>
        <p:spPr>
          <a:xfrm>
            <a:off x="877824" y="3634741"/>
            <a:ext cx="49377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200" b="0" i="0">
                <a:solidFill>
                  <a:srgbClr val="36424E"/>
                </a:solidFill>
                <a:latin typeface="Courier New"/>
              </a:rPr>
              <a:t>responde  (u, v)</a:t>
            </a:r>
          </a:p>
        </p:txBody>
      </p:sp>
      <p:cxnSp>
        <p:nvCxnSpPr>
          <p:cNvPr id="28" name="Connector 27">
            <a:extLst>
              <a:ext uri="{FF2B5EF4-FFF2-40B4-BE49-F238E27FC236}">
                <a16:creationId xmlns:a16="http://schemas.microsoft.com/office/drawing/2014/main" id="{09FD9B8D-EFA2-7F06-719E-B8D0C3271B0A}"/>
              </a:ext>
            </a:extLst>
          </p:cNvPr>
          <p:cNvCxnSpPr/>
          <p:nvPr/>
        </p:nvCxnSpPr>
        <p:spPr>
          <a:xfrm>
            <a:off x="1115568" y="3918205"/>
            <a:ext cx="4389120" cy="0"/>
          </a:xfrm>
          <a:prstGeom prst="line">
            <a:avLst/>
          </a:prstGeom>
          <a:ln w="15875">
            <a:solidFill>
              <a:srgbClr val="0060A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5D667651-A775-4199-F85C-4D1C87D774A6}"/>
              </a:ext>
            </a:extLst>
          </p:cNvPr>
          <p:cNvSpPr txBox="1"/>
          <p:nvPr/>
        </p:nvSpPr>
        <p:spPr>
          <a:xfrm>
            <a:off x="1115568" y="4219957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1B2430"/>
                </a:solidFill>
                <a:latin typeface="Courier New"/>
              </a:rPr>
              <a:t>sᵀu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C6F10D6-648E-9F12-3623-1C9E28C3DB75}"/>
              </a:ext>
            </a:extLst>
          </p:cNvPr>
          <p:cNvSpPr txBox="1"/>
          <p:nvPr/>
        </p:nvSpPr>
        <p:spPr>
          <a:xfrm>
            <a:off x="4590288" y="4219957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300" b="1" i="0">
                <a:solidFill>
                  <a:srgbClr val="1B2430"/>
                </a:solidFill>
                <a:latin typeface="Courier New"/>
              </a:rPr>
              <a:t>v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17A63F5-7703-29EA-A482-9E3B5891E291}"/>
              </a:ext>
            </a:extLst>
          </p:cNvPr>
          <p:cNvSpPr txBox="1"/>
          <p:nvPr/>
        </p:nvSpPr>
        <p:spPr>
          <a:xfrm>
            <a:off x="841248" y="4379977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200" b="1" i="1" dirty="0" err="1">
                <a:solidFill>
                  <a:srgbClr val="9A3B2E"/>
                </a:solidFill>
                <a:latin typeface="Calibri"/>
              </a:rPr>
              <a:t>misma</a:t>
            </a:r>
            <a:r>
              <a:rPr sz="1200" b="1" i="1" dirty="0">
                <a:solidFill>
                  <a:srgbClr val="9A3B2E"/>
                </a:solidFill>
                <a:latin typeface="Calibri"/>
              </a:rPr>
              <a:t> clave de </a:t>
            </a:r>
            <a:r>
              <a:rPr sz="1200" b="1" i="1" dirty="0" err="1">
                <a:solidFill>
                  <a:srgbClr val="9A3B2E"/>
                </a:solidFill>
                <a:latin typeface="Calibri"/>
              </a:rPr>
              <a:t>sesión</a:t>
            </a:r>
            <a:endParaRPr sz="1200" b="1" i="1" dirty="0">
              <a:solidFill>
                <a:srgbClr val="9A3B2E"/>
              </a:solidFill>
              <a:latin typeface="Calibri"/>
            </a:endParaRP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873D931A-87BF-EF44-3CB8-9E65B29A4CDD}"/>
              </a:ext>
            </a:extLst>
          </p:cNvPr>
          <p:cNvSpPr txBox="1"/>
          <p:nvPr/>
        </p:nvSpPr>
        <p:spPr>
          <a:xfrm>
            <a:off x="1115568" y="4805172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 i="0" dirty="0" err="1">
                <a:solidFill>
                  <a:srgbClr val="1B2430"/>
                </a:solidFill>
                <a:latin typeface="Courier New"/>
              </a:rPr>
              <a:t>conoce</a:t>
            </a:r>
            <a:r>
              <a:rPr sz="1050" b="1" i="0" dirty="0">
                <a:solidFill>
                  <a:srgbClr val="1B2430"/>
                </a:solidFill>
                <a:latin typeface="Courier New"/>
              </a:rPr>
              <a:t> s  →  </a:t>
            </a:r>
            <a:r>
              <a:rPr sz="1050" b="1" i="0" dirty="0" err="1">
                <a:solidFill>
                  <a:srgbClr val="1B2430"/>
                </a:solidFill>
                <a:latin typeface="Courier New"/>
              </a:rPr>
              <a:t>sᵀu</a:t>
            </a:r>
            <a:endParaRPr sz="1050" b="1" i="0" dirty="0">
              <a:solidFill>
                <a:srgbClr val="1B2430"/>
              </a:solidFill>
              <a:latin typeface="Courier New"/>
            </a:endParaRP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ECFB31C2-D464-956A-40E5-25DDE6310D40}"/>
              </a:ext>
            </a:extLst>
          </p:cNvPr>
          <p:cNvSpPr txBox="1"/>
          <p:nvPr/>
        </p:nvSpPr>
        <p:spPr>
          <a:xfrm>
            <a:off x="3310128" y="4805172"/>
            <a:ext cx="219456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050" b="1" i="0" dirty="0" err="1">
                <a:solidFill>
                  <a:srgbClr val="1B2430"/>
                </a:solidFill>
                <a:latin typeface="Courier New"/>
              </a:rPr>
              <a:t>conoce</a:t>
            </a:r>
            <a:r>
              <a:rPr sz="1050" b="1" i="0" dirty="0">
                <a:solidFill>
                  <a:srgbClr val="1B2430"/>
                </a:solidFill>
                <a:latin typeface="Courier New"/>
              </a:rPr>
              <a:t> r  →  v</a:t>
            </a:r>
          </a:p>
        </p:txBody>
      </p:sp>
      <p:sp>
        <p:nvSpPr>
          <p:cNvPr id="34" name="Rounded Rectangle 37">
            <a:extLst>
              <a:ext uri="{FF2B5EF4-FFF2-40B4-BE49-F238E27FC236}">
                <a16:creationId xmlns:a16="http://schemas.microsoft.com/office/drawing/2014/main" id="{6B4C9C6E-9BEB-82AE-BEA5-AD4C53BA4BD8}"/>
              </a:ext>
            </a:extLst>
          </p:cNvPr>
          <p:cNvSpPr/>
          <p:nvPr/>
        </p:nvSpPr>
        <p:spPr>
          <a:xfrm>
            <a:off x="6428232" y="3214118"/>
            <a:ext cx="1115568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8C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ctr"/>
          <a:lstStyle/>
          <a:p>
            <a:pPr algn="ctr"/>
            <a:r>
              <a:rPr sz="900" b="1" i="0" spc="20">
                <a:solidFill>
                  <a:srgbClr val="0060AB"/>
                </a:solidFill>
                <a:latin typeface="Calibri"/>
              </a:rPr>
              <a:t>COMPROMISO</a:t>
            </a:r>
          </a:p>
          <a:p>
            <a:pPr algn="ctr">
              <a:spcBef>
                <a:spcPts val="200"/>
              </a:spcBef>
            </a:pPr>
            <a:r>
              <a:rPr sz="950" b="0" i="0">
                <a:solidFill>
                  <a:srgbClr val="1B2430"/>
                </a:solidFill>
                <a:latin typeface="Courier New"/>
              </a:rPr>
              <a:t>w = A·y</a:t>
            </a:r>
          </a:p>
        </p:txBody>
      </p:sp>
      <p:sp>
        <p:nvSpPr>
          <p:cNvPr id="35" name="Rounded Rectangle 38">
            <a:extLst>
              <a:ext uri="{FF2B5EF4-FFF2-40B4-BE49-F238E27FC236}">
                <a16:creationId xmlns:a16="http://schemas.microsoft.com/office/drawing/2014/main" id="{19660B4E-7980-22BD-B070-1A6FF4D69F95}"/>
              </a:ext>
            </a:extLst>
          </p:cNvPr>
          <p:cNvSpPr/>
          <p:nvPr/>
        </p:nvSpPr>
        <p:spPr>
          <a:xfrm>
            <a:off x="7690104" y="3214118"/>
            <a:ext cx="1115568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8C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ctr"/>
          <a:lstStyle/>
          <a:p>
            <a:pPr algn="ctr"/>
            <a:r>
              <a:rPr sz="900" b="1" i="0" spc="20">
                <a:solidFill>
                  <a:srgbClr val="0060AB"/>
                </a:solidFill>
                <a:latin typeface="Calibri"/>
              </a:rPr>
              <a:t>RETO</a:t>
            </a:r>
          </a:p>
          <a:p>
            <a:pPr algn="ctr">
              <a:spcBef>
                <a:spcPts val="200"/>
              </a:spcBef>
            </a:pPr>
            <a:r>
              <a:rPr sz="950" b="0" i="0">
                <a:solidFill>
                  <a:srgbClr val="1B2430"/>
                </a:solidFill>
                <a:latin typeface="Courier New"/>
              </a:rPr>
              <a:t>c = H(m, w)</a:t>
            </a:r>
          </a:p>
        </p:txBody>
      </p:sp>
      <p:sp>
        <p:nvSpPr>
          <p:cNvPr id="36" name="Rounded Rectangle 39">
            <a:extLst>
              <a:ext uri="{FF2B5EF4-FFF2-40B4-BE49-F238E27FC236}">
                <a16:creationId xmlns:a16="http://schemas.microsoft.com/office/drawing/2014/main" id="{A72B01D9-5876-2B32-97DB-0CC6CD2CD1C5}"/>
              </a:ext>
            </a:extLst>
          </p:cNvPr>
          <p:cNvSpPr/>
          <p:nvPr/>
        </p:nvSpPr>
        <p:spPr>
          <a:xfrm>
            <a:off x="8951976" y="3214118"/>
            <a:ext cx="1115568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8C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ctr"/>
          <a:lstStyle/>
          <a:p>
            <a:pPr algn="ctr"/>
            <a:r>
              <a:rPr sz="900" b="1" i="0" spc="20">
                <a:solidFill>
                  <a:srgbClr val="0060AB"/>
                </a:solidFill>
                <a:latin typeface="Calibri"/>
              </a:rPr>
              <a:t>RESPUESTA</a:t>
            </a:r>
          </a:p>
          <a:p>
            <a:pPr algn="ctr">
              <a:spcBef>
                <a:spcPts val="200"/>
              </a:spcBef>
            </a:pPr>
            <a:r>
              <a:rPr sz="950" b="0" i="0">
                <a:solidFill>
                  <a:srgbClr val="1B2430"/>
                </a:solidFill>
                <a:latin typeface="Courier New"/>
              </a:rPr>
              <a:t>z = y + c·s</a:t>
            </a:r>
          </a:p>
        </p:txBody>
      </p:sp>
      <p:sp>
        <p:nvSpPr>
          <p:cNvPr id="37" name="Rounded Rectangle 40">
            <a:extLst>
              <a:ext uri="{FF2B5EF4-FFF2-40B4-BE49-F238E27FC236}">
                <a16:creationId xmlns:a16="http://schemas.microsoft.com/office/drawing/2014/main" id="{6C5175D7-83EA-3BCE-867F-F03E7EDC894A}"/>
              </a:ext>
            </a:extLst>
          </p:cNvPr>
          <p:cNvSpPr/>
          <p:nvPr/>
        </p:nvSpPr>
        <p:spPr>
          <a:xfrm>
            <a:off x="10213848" y="3214118"/>
            <a:ext cx="1115568" cy="896112"/>
          </a:xfrm>
          <a:prstGeom prst="roundRect">
            <a:avLst>
              <a:gd name="adj" fmla="val 12000"/>
            </a:avLst>
          </a:prstGeom>
          <a:solidFill>
            <a:srgbClr val="EDF3F9"/>
          </a:solidFill>
          <a:ln w="12700">
            <a:solidFill>
              <a:srgbClr val="0060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ctr"/>
          <a:lstStyle/>
          <a:p>
            <a:pPr algn="ctr"/>
            <a:r>
              <a:rPr sz="900" b="1" i="0" spc="20">
                <a:solidFill>
                  <a:srgbClr val="0060AB"/>
                </a:solidFill>
                <a:latin typeface="Calibri"/>
              </a:rPr>
              <a:t>VERIFICACIÓN</a:t>
            </a:r>
          </a:p>
          <a:p>
            <a:pPr algn="ctr">
              <a:spcBef>
                <a:spcPts val="200"/>
              </a:spcBef>
            </a:pPr>
            <a:r>
              <a:rPr sz="950" b="0" i="0">
                <a:solidFill>
                  <a:srgbClr val="1B2430"/>
                </a:solidFill>
                <a:latin typeface="Courier New"/>
              </a:rPr>
              <a:t>A·z − c·t ≟ w</a:t>
            </a:r>
          </a:p>
        </p:txBody>
      </p:sp>
      <p:cxnSp>
        <p:nvCxnSpPr>
          <p:cNvPr id="38" name="Connector 41">
            <a:extLst>
              <a:ext uri="{FF2B5EF4-FFF2-40B4-BE49-F238E27FC236}">
                <a16:creationId xmlns:a16="http://schemas.microsoft.com/office/drawing/2014/main" id="{52E251D6-FAC8-A5D2-73F6-AF5B097259AB}"/>
              </a:ext>
            </a:extLst>
          </p:cNvPr>
          <p:cNvCxnSpPr/>
          <p:nvPr/>
        </p:nvCxnSpPr>
        <p:spPr>
          <a:xfrm>
            <a:off x="7552943" y="3662174"/>
            <a:ext cx="128017" cy="0"/>
          </a:xfrm>
          <a:prstGeom prst="line">
            <a:avLst/>
          </a:prstGeom>
          <a:ln w="12700">
            <a:solidFill>
              <a:srgbClr val="0060A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42">
            <a:extLst>
              <a:ext uri="{FF2B5EF4-FFF2-40B4-BE49-F238E27FC236}">
                <a16:creationId xmlns:a16="http://schemas.microsoft.com/office/drawing/2014/main" id="{25A0C68C-838D-4F5D-67F3-E41E45169D9B}"/>
              </a:ext>
            </a:extLst>
          </p:cNvPr>
          <p:cNvCxnSpPr/>
          <p:nvPr/>
        </p:nvCxnSpPr>
        <p:spPr>
          <a:xfrm>
            <a:off x="8814816" y="3662174"/>
            <a:ext cx="128016" cy="0"/>
          </a:xfrm>
          <a:prstGeom prst="line">
            <a:avLst/>
          </a:prstGeom>
          <a:ln w="12700">
            <a:solidFill>
              <a:srgbClr val="0060A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43">
            <a:extLst>
              <a:ext uri="{FF2B5EF4-FFF2-40B4-BE49-F238E27FC236}">
                <a16:creationId xmlns:a16="http://schemas.microsoft.com/office/drawing/2014/main" id="{5B8D3515-BAE7-7242-BBCE-9043A69303BE}"/>
              </a:ext>
            </a:extLst>
          </p:cNvPr>
          <p:cNvCxnSpPr/>
          <p:nvPr/>
        </p:nvCxnSpPr>
        <p:spPr>
          <a:xfrm>
            <a:off x="10076688" y="3662174"/>
            <a:ext cx="128016" cy="0"/>
          </a:xfrm>
          <a:prstGeom prst="line">
            <a:avLst/>
          </a:prstGeom>
          <a:ln w="12700">
            <a:solidFill>
              <a:srgbClr val="0060A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4">
            <a:extLst>
              <a:ext uri="{FF2B5EF4-FFF2-40B4-BE49-F238E27FC236}">
                <a16:creationId xmlns:a16="http://schemas.microsoft.com/office/drawing/2014/main" id="{6F5AFA1D-8134-F944-40E6-8CDE5B1A1132}"/>
              </a:ext>
            </a:extLst>
          </p:cNvPr>
          <p:cNvCxnSpPr/>
          <p:nvPr/>
        </p:nvCxnSpPr>
        <p:spPr>
          <a:xfrm>
            <a:off x="10771631" y="4110229"/>
            <a:ext cx="0" cy="274320"/>
          </a:xfrm>
          <a:prstGeom prst="line">
            <a:avLst/>
          </a:prstGeom>
          <a:ln w="11000">
            <a:solidFill>
              <a:srgbClr val="0060A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5">
            <a:extLst>
              <a:ext uri="{FF2B5EF4-FFF2-40B4-BE49-F238E27FC236}">
                <a16:creationId xmlns:a16="http://schemas.microsoft.com/office/drawing/2014/main" id="{0300B15C-FB98-8D4F-CDAC-5D269E0BCC51}"/>
              </a:ext>
            </a:extLst>
          </p:cNvPr>
          <p:cNvCxnSpPr/>
          <p:nvPr/>
        </p:nvCxnSpPr>
        <p:spPr>
          <a:xfrm flipH="1">
            <a:off x="6986016" y="4384549"/>
            <a:ext cx="3785615" cy="0"/>
          </a:xfrm>
          <a:prstGeom prst="line">
            <a:avLst/>
          </a:prstGeom>
          <a:ln w="11000">
            <a:solidFill>
              <a:srgbClr val="0060A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6">
            <a:extLst>
              <a:ext uri="{FF2B5EF4-FFF2-40B4-BE49-F238E27FC236}">
                <a16:creationId xmlns:a16="http://schemas.microsoft.com/office/drawing/2014/main" id="{5B8CE1FB-C9F6-9232-326E-39A408A25865}"/>
              </a:ext>
            </a:extLst>
          </p:cNvPr>
          <p:cNvCxnSpPr/>
          <p:nvPr/>
        </p:nvCxnSpPr>
        <p:spPr>
          <a:xfrm flipV="1">
            <a:off x="6986016" y="4110229"/>
            <a:ext cx="0" cy="274320"/>
          </a:xfrm>
          <a:prstGeom prst="line">
            <a:avLst/>
          </a:prstGeom>
          <a:ln w="11000">
            <a:solidFill>
              <a:srgbClr val="0060AB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7">
            <a:extLst>
              <a:ext uri="{FF2B5EF4-FFF2-40B4-BE49-F238E27FC236}">
                <a16:creationId xmlns:a16="http://schemas.microsoft.com/office/drawing/2014/main" id="{91A5C353-847B-B9B1-3FC0-2B4548EA2182}"/>
              </a:ext>
            </a:extLst>
          </p:cNvPr>
          <p:cNvSpPr txBox="1"/>
          <p:nvPr/>
        </p:nvSpPr>
        <p:spPr>
          <a:xfrm>
            <a:off x="6409944" y="4475989"/>
            <a:ext cx="499262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050" b="0" i="1">
                <a:solidFill>
                  <a:srgbClr val="6C7681"/>
                </a:solidFill>
                <a:latin typeface="Calibri"/>
              </a:rPr>
              <a:t>el reto encadena mensaje y compromiso — falsificar exige resolver Module-SIS</a:t>
            </a:r>
          </a:p>
        </p:txBody>
      </p:sp>
      <p:sp>
        <p:nvSpPr>
          <p:cNvPr id="45" name="TextBox 21">
            <a:extLst>
              <a:ext uri="{FF2B5EF4-FFF2-40B4-BE49-F238E27FC236}">
                <a16:creationId xmlns:a16="http://schemas.microsoft.com/office/drawing/2014/main" id="{10121629-2850-0DD5-C87B-F421B6F3DF61}"/>
              </a:ext>
            </a:extLst>
          </p:cNvPr>
          <p:cNvSpPr txBox="1"/>
          <p:nvPr/>
        </p:nvSpPr>
        <p:spPr>
          <a:xfrm>
            <a:off x="877824" y="2025396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1" i="0">
                <a:solidFill>
                  <a:srgbClr val="1B2430"/>
                </a:solidFill>
                <a:latin typeface="Calibri"/>
              </a:rPr>
              <a:t>ML-KEM / KYBER</a:t>
            </a:r>
          </a:p>
        </p:txBody>
      </p:sp>
      <p:sp>
        <p:nvSpPr>
          <p:cNvPr id="46" name="TextBox 22">
            <a:extLst>
              <a:ext uri="{FF2B5EF4-FFF2-40B4-BE49-F238E27FC236}">
                <a16:creationId xmlns:a16="http://schemas.microsoft.com/office/drawing/2014/main" id="{38386230-DCC1-4080-1E2C-AA57B46F3F57}"/>
              </a:ext>
            </a:extLst>
          </p:cNvPr>
          <p:cNvSpPr txBox="1"/>
          <p:nvPr/>
        </p:nvSpPr>
        <p:spPr>
          <a:xfrm>
            <a:off x="877824" y="2391156"/>
            <a:ext cx="498348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0060AB"/>
                </a:solidFill>
                <a:latin typeface="Calibri"/>
              </a:rPr>
              <a:t>FIPS 203 · Module-LWE</a:t>
            </a:r>
            <a:r>
              <a:rPr sz="1250" b="0" i="1">
                <a:solidFill>
                  <a:srgbClr val="9A3B2E"/>
                </a:solidFill>
                <a:latin typeface="Calibri"/>
              </a:rPr>
              <a:t>    — encapsulación de claves</a:t>
            </a:r>
          </a:p>
        </p:txBody>
      </p:sp>
      <p:sp>
        <p:nvSpPr>
          <p:cNvPr id="47" name="TextBox 31">
            <a:extLst>
              <a:ext uri="{FF2B5EF4-FFF2-40B4-BE49-F238E27FC236}">
                <a16:creationId xmlns:a16="http://schemas.microsoft.com/office/drawing/2014/main" id="{E4FAD6C0-238E-FAD4-1951-8131FF2B00D9}"/>
              </a:ext>
            </a:extLst>
          </p:cNvPr>
          <p:cNvSpPr txBox="1"/>
          <p:nvPr/>
        </p:nvSpPr>
        <p:spPr>
          <a:xfrm>
            <a:off x="6409944" y="2025396"/>
            <a:ext cx="499262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1" i="0">
                <a:solidFill>
                  <a:srgbClr val="1B2430"/>
                </a:solidFill>
                <a:latin typeface="Calibri"/>
              </a:rPr>
              <a:t>ML-DSA / DILITHIUM</a:t>
            </a:r>
          </a:p>
        </p:txBody>
      </p:sp>
      <p:sp>
        <p:nvSpPr>
          <p:cNvPr id="48" name="TextBox 32">
            <a:extLst>
              <a:ext uri="{FF2B5EF4-FFF2-40B4-BE49-F238E27FC236}">
                <a16:creationId xmlns:a16="http://schemas.microsoft.com/office/drawing/2014/main" id="{A704C579-42D5-BC13-47B7-4B7A11F23774}"/>
              </a:ext>
            </a:extLst>
          </p:cNvPr>
          <p:cNvSpPr txBox="1"/>
          <p:nvPr/>
        </p:nvSpPr>
        <p:spPr>
          <a:xfrm>
            <a:off x="6409944" y="2391156"/>
            <a:ext cx="499262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0060AB"/>
                </a:solidFill>
                <a:latin typeface="Calibri"/>
              </a:rPr>
              <a:t>FIPS 204 · Module-SIS</a:t>
            </a:r>
            <a:r>
              <a:rPr sz="1250" b="0" i="1">
                <a:solidFill>
                  <a:srgbClr val="9A3B2E"/>
                </a:solidFill>
                <a:latin typeface="Calibri"/>
              </a:rPr>
              <a:t>    — firma digital</a:t>
            </a:r>
          </a:p>
        </p:txBody>
      </p:sp>
      <p:cxnSp>
        <p:nvCxnSpPr>
          <p:cNvPr id="49" name="Connector 20">
            <a:extLst>
              <a:ext uri="{FF2B5EF4-FFF2-40B4-BE49-F238E27FC236}">
                <a16:creationId xmlns:a16="http://schemas.microsoft.com/office/drawing/2014/main" id="{F1CD3D6D-4136-CC13-76DD-E70B1EAFEFDC}"/>
              </a:ext>
            </a:extLst>
          </p:cNvPr>
          <p:cNvCxnSpPr/>
          <p:nvPr/>
        </p:nvCxnSpPr>
        <p:spPr>
          <a:xfrm>
            <a:off x="6089904" y="2043684"/>
            <a:ext cx="0" cy="3291840"/>
          </a:xfrm>
          <a:prstGeom prst="line">
            <a:avLst/>
          </a:prstGeom>
          <a:ln w="12700">
            <a:solidFill>
              <a:srgbClr val="C8CF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1">
            <a:extLst>
              <a:ext uri="{FF2B5EF4-FFF2-40B4-BE49-F238E27FC236}">
                <a16:creationId xmlns:a16="http://schemas.microsoft.com/office/drawing/2014/main" id="{F7A8E7A6-825C-BC4C-CC4F-92D464C9A64C}"/>
              </a:ext>
            </a:extLst>
          </p:cNvPr>
          <p:cNvSpPr txBox="1"/>
          <p:nvPr/>
        </p:nvSpPr>
        <p:spPr>
          <a:xfrm>
            <a:off x="877824" y="5564124"/>
            <a:ext cx="10506456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300" b="1" i="0" dirty="0">
                <a:solidFill>
                  <a:srgbClr val="0060AB"/>
                </a:solidFill>
                <a:latin typeface="Calibri"/>
              </a:rPr>
              <a:t>ML-KEM</a:t>
            </a:r>
            <a:r>
              <a:rPr sz="1300" b="0" i="0" dirty="0">
                <a:solidFill>
                  <a:srgbClr val="36424E"/>
                </a:solidFill>
                <a:latin typeface="Calibri"/>
              </a:rPr>
              <a:t> protege </a:t>
            </a:r>
            <a:r>
              <a:rPr sz="1300" b="0" i="0" dirty="0" err="1">
                <a:solidFill>
                  <a:srgbClr val="36424E"/>
                </a:solidFill>
                <a:latin typeface="Calibri"/>
              </a:rPr>
              <a:t>el</a:t>
            </a:r>
            <a:r>
              <a:rPr sz="1300" b="0" i="0" dirty="0">
                <a:solidFill>
                  <a:srgbClr val="36424E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36424E"/>
                </a:solidFill>
                <a:latin typeface="Calibri"/>
              </a:rPr>
              <a:t>intercambio</a:t>
            </a:r>
            <a:r>
              <a:rPr sz="1300" b="0" i="0" dirty="0">
                <a:solidFill>
                  <a:srgbClr val="36424E"/>
                </a:solidFill>
                <a:latin typeface="Calibri"/>
              </a:rPr>
              <a:t> de claves;   </a:t>
            </a:r>
            <a:r>
              <a:rPr sz="1300" b="1" i="0" dirty="0">
                <a:solidFill>
                  <a:srgbClr val="9A3B2E"/>
                </a:solidFill>
                <a:latin typeface="Calibri"/>
              </a:rPr>
              <a:t>ML-DSA</a:t>
            </a:r>
            <a:r>
              <a:rPr sz="1300" b="0" i="0" dirty="0">
                <a:solidFill>
                  <a:srgbClr val="36424E"/>
                </a:solidFill>
                <a:latin typeface="Calibri"/>
              </a:rPr>
              <a:t> protege la </a:t>
            </a:r>
            <a:r>
              <a:rPr sz="1300" b="0" i="0" dirty="0" err="1">
                <a:solidFill>
                  <a:srgbClr val="36424E"/>
                </a:solidFill>
                <a:latin typeface="Calibri"/>
              </a:rPr>
              <a:t>autenticidad</a:t>
            </a:r>
            <a:r>
              <a:rPr sz="1300" b="0" i="0" dirty="0">
                <a:solidFill>
                  <a:srgbClr val="36424E"/>
                </a:solidFill>
                <a:latin typeface="Calibri"/>
              </a:rPr>
              <a:t>.</a:t>
            </a:r>
          </a:p>
        </p:txBody>
      </p:sp>
      <p:cxnSp>
        <p:nvCxnSpPr>
          <p:cNvPr id="51" name="Connector 18">
            <a:extLst>
              <a:ext uri="{FF2B5EF4-FFF2-40B4-BE49-F238E27FC236}">
                <a16:creationId xmlns:a16="http://schemas.microsoft.com/office/drawing/2014/main" id="{F5409746-06D8-894E-9FB7-A1512AE41875}"/>
              </a:ext>
            </a:extLst>
          </p:cNvPr>
          <p:cNvCxnSpPr/>
          <p:nvPr/>
        </p:nvCxnSpPr>
        <p:spPr>
          <a:xfrm>
            <a:off x="1539415" y="4324159"/>
            <a:ext cx="3712464" cy="0"/>
          </a:xfrm>
          <a:prstGeom prst="line">
            <a:avLst/>
          </a:prstGeom>
          <a:ln w="16510">
            <a:solidFill>
              <a:srgbClr val="9A3B2E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99928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B9711-7E7C-F247-7DFD-55C3B2609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D0E5159-5297-50B1-4039-54AC9ED17C9E}"/>
              </a:ext>
            </a:extLst>
          </p:cNvPr>
          <p:cNvSpPr/>
          <p:nvPr/>
        </p:nvSpPr>
        <p:spPr>
          <a:xfrm>
            <a:off x="841248" y="457200"/>
            <a:ext cx="105091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_tradnl" sz="1150" b="1" kern="0" spc="200" dirty="0">
                <a:solidFill>
                  <a:srgbClr val="2E5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5 · CONSTRUCCIONES</a:t>
            </a:r>
            <a:endParaRPr lang="es-ES_tradnl" sz="1150" dirty="0"/>
          </a:p>
        </p:txBody>
      </p:sp>
      <p:pic>
        <p:nvPicPr>
          <p:cNvPr id="3" name="Image 0" descr="figs/uax_color.png">
            <a:extLst>
              <a:ext uri="{FF2B5EF4-FFF2-40B4-BE49-F238E27FC236}">
                <a16:creationId xmlns:a16="http://schemas.microsoft.com/office/drawing/2014/main" id="{9C1FD825-B55B-DE3F-3349-BB2842921A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6854" y="164593"/>
            <a:ext cx="1932677" cy="749808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A6E50AC4-BF99-DF0D-1AFD-6D45FAE05C2E}"/>
              </a:ext>
            </a:extLst>
          </p:cNvPr>
          <p:cNvSpPr/>
          <p:nvPr/>
        </p:nvSpPr>
        <p:spPr>
          <a:xfrm>
            <a:off x="841248" y="731520"/>
            <a:ext cx="1050919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_tradnl" sz="3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Estado del arte: comparación de KEMs</a:t>
            </a:r>
            <a:endParaRPr lang="es-ES_tradnl" sz="30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2874B2E6-7AF5-2A56-778F-E4061CF345B7}"/>
              </a:ext>
            </a:extLst>
          </p:cNvPr>
          <p:cNvSpPr/>
          <p:nvPr/>
        </p:nvSpPr>
        <p:spPr>
          <a:xfrm>
            <a:off x="841248" y="1481328"/>
            <a:ext cx="10509199" cy="0"/>
          </a:xfrm>
          <a:prstGeom prst="line">
            <a:avLst/>
          </a:prstGeom>
          <a:noFill/>
          <a:ln w="12700">
            <a:solidFill>
              <a:srgbClr val="C8CFD4"/>
            </a:solidFill>
            <a:prstDash val="solid"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12FD1A58-65B1-B23D-6D0F-D7AD7B06B093}"/>
              </a:ext>
            </a:extLst>
          </p:cNvPr>
          <p:cNvSpPr/>
          <p:nvPr/>
        </p:nvSpPr>
        <p:spPr>
          <a:xfrm>
            <a:off x="841248" y="6400800"/>
            <a:ext cx="10509199" cy="0"/>
          </a:xfrm>
          <a:prstGeom prst="line">
            <a:avLst/>
          </a:prstGeom>
          <a:noFill/>
          <a:ln w="9525">
            <a:solidFill>
              <a:srgbClr val="E7EBEE"/>
            </a:solidFill>
            <a:prstDash val="solid"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0D81FBB2-4367-43CD-467B-C61B95A3D0F8}"/>
              </a:ext>
            </a:extLst>
          </p:cNvPr>
          <p:cNvSpPr/>
          <p:nvPr/>
        </p:nvSpPr>
        <p:spPr>
          <a:xfrm>
            <a:off x="841248" y="645566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850" b="1" kern="0" spc="200" dirty="0">
                <a:solidFill>
                  <a:srgbClr val="AE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POSTCUÁNTICA · LEARNING WITH ERRORS</a:t>
            </a:r>
            <a:endParaRPr lang="es-ES_tradnl" sz="85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DBD0C87B-279A-AA72-4C12-408F4D0323E5}"/>
              </a:ext>
            </a:extLst>
          </p:cNvPr>
          <p:cNvSpPr/>
          <p:nvPr/>
        </p:nvSpPr>
        <p:spPr>
          <a:xfrm>
            <a:off x="9521647" y="64556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_tradnl" sz="850" b="0" dirty="0">
                <a:solidFill>
                  <a:srgbClr val="AEB6BD"/>
                </a:solidFill>
                <a:latin typeface="Calibri"/>
              </a:rPr>
              <a:t>08 / 13</a:t>
            </a:r>
            <a:endParaRPr lang="es-ES_tradnl" sz="85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133D30B9-F51F-1FCA-4ADA-F1F1CED1DC67}"/>
              </a:ext>
            </a:extLst>
          </p:cNvPr>
          <p:cNvSpPr/>
          <p:nvPr/>
        </p:nvSpPr>
        <p:spPr>
          <a:xfrm>
            <a:off x="841247" y="1559051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_tradnl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establecen una clave, así que las cifras son comparables. Tres familias postcuánticas frente a la referencia clásica.</a:t>
            </a:r>
            <a:endParaRPr lang="es-ES_tradnl" sz="1350" dirty="0"/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B6ACF129-ECF7-96A7-6BB1-601B7642C9F8}"/>
              </a:ext>
            </a:extLst>
          </p:cNvPr>
          <p:cNvSpPr/>
          <p:nvPr/>
        </p:nvSpPr>
        <p:spPr>
          <a:xfrm>
            <a:off x="822960" y="2240280"/>
            <a:ext cx="10515600" cy="3127248"/>
          </a:xfrm>
          <a:prstGeom prst="roundRect">
            <a:avLst>
              <a:gd name="adj" fmla="val 3801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blurRad="1143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_tradnl" dirty="0"/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AEAE3711-759B-EEFF-5AC1-989AF32C2526}"/>
              </a:ext>
            </a:extLst>
          </p:cNvPr>
          <p:cNvSpPr/>
          <p:nvPr/>
        </p:nvSpPr>
        <p:spPr>
          <a:xfrm>
            <a:off x="822960" y="2807208"/>
            <a:ext cx="10515600" cy="640080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s-ES_tradnl" dirty="0"/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70D6C76D-BB38-4401-2685-B22429D8CB2D}"/>
              </a:ext>
            </a:extLst>
          </p:cNvPr>
          <p:cNvSpPr/>
          <p:nvPr/>
        </p:nvSpPr>
        <p:spPr>
          <a:xfrm>
            <a:off x="822960" y="3447288"/>
            <a:ext cx="10515600" cy="1920240"/>
          </a:xfrm>
          <a:prstGeom prst="roundRect">
            <a:avLst>
              <a:gd name="adj" fmla="val 6190"/>
            </a:avLst>
          </a:prstGeom>
          <a:solidFill>
            <a:srgbClr val="EEF3FB"/>
          </a:solidFill>
          <a:ln/>
        </p:spPr>
        <p:txBody>
          <a:bodyPr/>
          <a:lstStyle/>
          <a:p>
            <a:endParaRPr lang="es-ES_tradnl" dirty="0"/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D1C7C94A-4F49-F422-B418-D905FF28938B}"/>
              </a:ext>
            </a:extLst>
          </p:cNvPr>
          <p:cNvSpPr/>
          <p:nvPr/>
        </p:nvSpPr>
        <p:spPr>
          <a:xfrm>
            <a:off x="822960" y="3447288"/>
            <a:ext cx="10515600" cy="201168"/>
          </a:xfrm>
          <a:prstGeom prst="rect">
            <a:avLst/>
          </a:prstGeom>
          <a:solidFill>
            <a:srgbClr val="EEF3FB"/>
          </a:solidFill>
          <a:ln/>
        </p:spPr>
        <p:txBody>
          <a:bodyPr/>
          <a:lstStyle/>
          <a:p>
            <a:endParaRPr lang="es-ES_tradnl" dirty="0"/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DA3A0978-2445-08D0-0CD8-913F541AD45B}"/>
              </a:ext>
            </a:extLst>
          </p:cNvPr>
          <p:cNvSpPr/>
          <p:nvPr/>
        </p:nvSpPr>
        <p:spPr>
          <a:xfrm>
            <a:off x="822960" y="2240280"/>
            <a:ext cx="10515600" cy="566928"/>
          </a:xfrm>
          <a:prstGeom prst="roundRect">
            <a:avLst>
              <a:gd name="adj" fmla="val 20968"/>
            </a:avLst>
          </a:prstGeom>
          <a:solidFill>
            <a:schemeClr val="tx1">
              <a:lumMod val="85000"/>
              <a:lumOff val="15000"/>
            </a:schemeClr>
          </a:solidFill>
          <a:ln/>
        </p:spPr>
        <p:txBody>
          <a:bodyPr/>
          <a:lstStyle/>
          <a:p>
            <a:endParaRPr lang="es-ES_tradnl" dirty="0"/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F088520E-AFE0-C0A9-6FE3-31AB17388C24}"/>
              </a:ext>
            </a:extLst>
          </p:cNvPr>
          <p:cNvSpPr/>
          <p:nvPr/>
        </p:nvSpPr>
        <p:spPr>
          <a:xfrm>
            <a:off x="822960" y="2532888"/>
            <a:ext cx="10515600" cy="27432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/>
        </p:spPr>
        <p:txBody>
          <a:bodyPr/>
          <a:lstStyle/>
          <a:p>
            <a:endParaRPr lang="es-ES_tradnl" dirty="0"/>
          </a:p>
        </p:txBody>
      </p:sp>
      <p:sp>
        <p:nvSpPr>
          <p:cNvPr id="13" name="Text 13">
            <a:extLst>
              <a:ext uri="{FF2B5EF4-FFF2-40B4-BE49-F238E27FC236}">
                <a16:creationId xmlns:a16="http://schemas.microsoft.com/office/drawing/2014/main" id="{EDBCBB6F-4555-D4DB-00E3-30866169C187}"/>
              </a:ext>
            </a:extLst>
          </p:cNvPr>
          <p:cNvSpPr/>
          <p:nvPr/>
        </p:nvSpPr>
        <p:spPr>
          <a:xfrm>
            <a:off x="1078992" y="2240280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</a:t>
            </a:r>
            <a:endParaRPr lang="es-ES_tradnl" sz="1400" dirty="0"/>
          </a:p>
        </p:txBody>
      </p:sp>
      <p:sp>
        <p:nvSpPr>
          <p:cNvPr id="14" name="Text 14">
            <a:extLst>
              <a:ext uri="{FF2B5EF4-FFF2-40B4-BE49-F238E27FC236}">
                <a16:creationId xmlns:a16="http://schemas.microsoft.com/office/drawing/2014/main" id="{E9BC0FC0-E8E3-A37F-DA3D-C567C707B2A9}"/>
              </a:ext>
            </a:extLst>
          </p:cNvPr>
          <p:cNvSpPr/>
          <p:nvPr/>
        </p:nvSpPr>
        <p:spPr>
          <a:xfrm>
            <a:off x="3822192" y="2240280"/>
            <a:ext cx="3035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</a:t>
            </a:r>
            <a:endParaRPr lang="es-ES_tradnl" sz="1400" dirty="0"/>
          </a:p>
        </p:txBody>
      </p:sp>
      <p:sp>
        <p:nvSpPr>
          <p:cNvPr id="15" name="Text 15">
            <a:extLst>
              <a:ext uri="{FF2B5EF4-FFF2-40B4-BE49-F238E27FC236}">
                <a16:creationId xmlns:a16="http://schemas.microsoft.com/office/drawing/2014/main" id="{D9225036-8F07-37C6-7E00-310C85ED0756}"/>
              </a:ext>
            </a:extLst>
          </p:cNvPr>
          <p:cNvSpPr/>
          <p:nvPr/>
        </p:nvSpPr>
        <p:spPr>
          <a:xfrm>
            <a:off x="7205472" y="2240280"/>
            <a:ext cx="1755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 pública</a:t>
            </a:r>
            <a:endParaRPr lang="es-ES_tradnl" sz="1400" dirty="0"/>
          </a:p>
        </p:txBody>
      </p:sp>
      <p:sp>
        <p:nvSpPr>
          <p:cNvPr id="16" name="Text 16">
            <a:extLst>
              <a:ext uri="{FF2B5EF4-FFF2-40B4-BE49-F238E27FC236}">
                <a16:creationId xmlns:a16="http://schemas.microsoft.com/office/drawing/2014/main" id="{6D866031-9A8C-A654-8034-81C587DDD035}"/>
              </a:ext>
            </a:extLst>
          </p:cNvPr>
          <p:cNvSpPr/>
          <p:nvPr/>
        </p:nvSpPr>
        <p:spPr>
          <a:xfrm>
            <a:off x="9308592" y="2240280"/>
            <a:ext cx="1938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Cifrado / secreto</a:t>
            </a:r>
            <a:endParaRPr lang="es-ES_tradnl" sz="1400" dirty="0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32AEDC6B-CF3C-BE0C-3836-286E782DDFA2}"/>
              </a:ext>
            </a:extLst>
          </p:cNvPr>
          <p:cNvSpPr/>
          <p:nvPr/>
        </p:nvSpPr>
        <p:spPr>
          <a:xfrm>
            <a:off x="822960" y="3447288"/>
            <a:ext cx="10515600" cy="0"/>
          </a:xfrm>
          <a:prstGeom prst="line">
            <a:avLst/>
          </a:prstGeom>
          <a:noFill/>
          <a:ln w="12700">
            <a:solidFill>
              <a:srgbClr val="E4E8F0"/>
            </a:solidFill>
            <a:prstDash val="solid"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3276C553-42B1-7F33-71DA-5D0852245A6F}"/>
              </a:ext>
            </a:extLst>
          </p:cNvPr>
          <p:cNvSpPr/>
          <p:nvPr/>
        </p:nvSpPr>
        <p:spPr>
          <a:xfrm>
            <a:off x="822960" y="4087368"/>
            <a:ext cx="10515600" cy="0"/>
          </a:xfrm>
          <a:prstGeom prst="line">
            <a:avLst/>
          </a:prstGeom>
          <a:noFill/>
          <a:ln w="12700">
            <a:solidFill>
              <a:srgbClr val="E4E8F0"/>
            </a:solidFill>
            <a:prstDash val="solid"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CDA75AEC-E280-C927-11FA-FDBCB4A70192}"/>
              </a:ext>
            </a:extLst>
          </p:cNvPr>
          <p:cNvSpPr/>
          <p:nvPr/>
        </p:nvSpPr>
        <p:spPr>
          <a:xfrm>
            <a:off x="822960" y="4727448"/>
            <a:ext cx="10515600" cy="0"/>
          </a:xfrm>
          <a:prstGeom prst="line">
            <a:avLst/>
          </a:prstGeom>
          <a:noFill/>
          <a:ln w="12700">
            <a:solidFill>
              <a:srgbClr val="E4E8F0"/>
            </a:solidFill>
            <a:prstDash val="solid"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5E53B1D0-D9C2-32DD-F026-41F9A3619D9D}"/>
              </a:ext>
            </a:extLst>
          </p:cNvPr>
          <p:cNvSpPr/>
          <p:nvPr/>
        </p:nvSpPr>
        <p:spPr>
          <a:xfrm>
            <a:off x="1078992" y="2807208"/>
            <a:ext cx="2395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450" b="1" dirty="0">
                <a:solidFill>
                  <a:srgbClr val="16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ECDH P-256</a:t>
            </a:r>
            <a:endParaRPr lang="es-ES_tradnl" sz="1450" dirty="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F6BF3FF6-1DBD-9B3C-1E75-4D3C0B1B70F2}"/>
              </a:ext>
            </a:extLst>
          </p:cNvPr>
          <p:cNvSpPr/>
          <p:nvPr/>
        </p:nvSpPr>
        <p:spPr>
          <a:xfrm>
            <a:off x="3822192" y="2807208"/>
            <a:ext cx="3035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3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clásico · acuerdo</a:t>
            </a:r>
            <a:endParaRPr lang="es-ES_tradnl" sz="1300" dirty="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7F3EB141-9E80-3B29-DBB9-1FF138C16A09}"/>
              </a:ext>
            </a:extLst>
          </p:cNvPr>
          <p:cNvSpPr/>
          <p:nvPr/>
        </p:nvSpPr>
        <p:spPr>
          <a:xfrm>
            <a:off x="7205472" y="2807208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≈32 B</a:t>
            </a:r>
            <a:endParaRPr lang="es-ES_tradnl" sz="1400" dirty="0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80DAF0AC-BD7E-003F-1317-195944F4E265}"/>
              </a:ext>
            </a:extLst>
          </p:cNvPr>
          <p:cNvSpPr/>
          <p:nvPr/>
        </p:nvSpPr>
        <p:spPr>
          <a:xfrm>
            <a:off x="9308592" y="2807208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secreto 32 B</a:t>
            </a:r>
            <a:endParaRPr lang="es-ES_tradnl" sz="1400" dirty="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10F3FEF2-68B8-E643-E887-5A808AE92433}"/>
              </a:ext>
            </a:extLst>
          </p:cNvPr>
          <p:cNvSpPr/>
          <p:nvPr/>
        </p:nvSpPr>
        <p:spPr>
          <a:xfrm>
            <a:off x="1078992" y="3447288"/>
            <a:ext cx="2395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450" b="1" dirty="0">
                <a:solidFill>
                  <a:srgbClr val="16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ML-KEM-768</a:t>
            </a:r>
            <a:endParaRPr lang="es-ES_tradnl" sz="1450" dirty="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ECAA4380-970F-D7D5-442A-633CFF3C4426}"/>
              </a:ext>
            </a:extLst>
          </p:cNvPr>
          <p:cNvSpPr/>
          <p:nvPr/>
        </p:nvSpPr>
        <p:spPr>
          <a:xfrm>
            <a:off x="3822192" y="3447288"/>
            <a:ext cx="3035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3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retículos · Module-LWE</a:t>
            </a:r>
            <a:endParaRPr lang="es-ES_tradnl" sz="1300" dirty="0"/>
          </a:p>
        </p:txBody>
      </p:sp>
      <p:sp>
        <p:nvSpPr>
          <p:cNvPr id="29" name="Text 28">
            <a:extLst>
              <a:ext uri="{FF2B5EF4-FFF2-40B4-BE49-F238E27FC236}">
                <a16:creationId xmlns:a16="http://schemas.microsoft.com/office/drawing/2014/main" id="{E3DFCF02-EE66-8ED3-9AEF-BF6D1AF56E0F}"/>
              </a:ext>
            </a:extLst>
          </p:cNvPr>
          <p:cNvSpPr/>
          <p:nvPr/>
        </p:nvSpPr>
        <p:spPr>
          <a:xfrm>
            <a:off x="1078992" y="4087368"/>
            <a:ext cx="2395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450" b="1" dirty="0">
                <a:solidFill>
                  <a:srgbClr val="16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FrodoKEM-976</a:t>
            </a:r>
            <a:endParaRPr lang="es-ES_tradnl" sz="1450" dirty="0"/>
          </a:p>
        </p:txBody>
      </p:sp>
      <p:sp>
        <p:nvSpPr>
          <p:cNvPr id="30" name="Text 29">
            <a:extLst>
              <a:ext uri="{FF2B5EF4-FFF2-40B4-BE49-F238E27FC236}">
                <a16:creationId xmlns:a16="http://schemas.microsoft.com/office/drawing/2014/main" id="{803C954F-FA79-44D9-4D67-AF078FE05FF8}"/>
              </a:ext>
            </a:extLst>
          </p:cNvPr>
          <p:cNvSpPr/>
          <p:nvPr/>
        </p:nvSpPr>
        <p:spPr>
          <a:xfrm>
            <a:off x="3822192" y="4087368"/>
            <a:ext cx="3035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3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retículos · LWE estándar</a:t>
            </a:r>
            <a:endParaRPr lang="es-ES_tradnl" sz="1300" dirty="0"/>
          </a:p>
        </p:txBody>
      </p:sp>
      <p:sp>
        <p:nvSpPr>
          <p:cNvPr id="31" name="Text 32">
            <a:extLst>
              <a:ext uri="{FF2B5EF4-FFF2-40B4-BE49-F238E27FC236}">
                <a16:creationId xmlns:a16="http://schemas.microsoft.com/office/drawing/2014/main" id="{5746D926-8E00-FAF0-6C5B-8B66DEB31E8B}"/>
              </a:ext>
            </a:extLst>
          </p:cNvPr>
          <p:cNvSpPr/>
          <p:nvPr/>
        </p:nvSpPr>
        <p:spPr>
          <a:xfrm>
            <a:off x="1078992" y="4727448"/>
            <a:ext cx="2395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450" b="1" dirty="0" err="1">
                <a:solidFill>
                  <a:srgbClr val="16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</a:t>
            </a:r>
            <a:r>
              <a:rPr lang="es-ES_tradnl" sz="1450" b="1" dirty="0">
                <a:solidFill>
                  <a:srgbClr val="16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_tradnl" sz="1450" b="1" dirty="0" err="1">
                <a:solidFill>
                  <a:srgbClr val="16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McEliece</a:t>
            </a:r>
            <a:endParaRPr lang="es-ES_tradnl" sz="1450" dirty="0"/>
          </a:p>
        </p:txBody>
      </p:sp>
      <p:sp>
        <p:nvSpPr>
          <p:cNvPr id="32" name="Text 33">
            <a:extLst>
              <a:ext uri="{FF2B5EF4-FFF2-40B4-BE49-F238E27FC236}">
                <a16:creationId xmlns:a16="http://schemas.microsoft.com/office/drawing/2014/main" id="{53720F0F-FF6C-21A9-23A4-38FC0156ED61}"/>
              </a:ext>
            </a:extLst>
          </p:cNvPr>
          <p:cNvSpPr/>
          <p:nvPr/>
        </p:nvSpPr>
        <p:spPr>
          <a:xfrm>
            <a:off x="3822192" y="4727448"/>
            <a:ext cx="3035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3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códigos</a:t>
            </a:r>
            <a:endParaRPr lang="es-ES_tradnl" sz="1300" dirty="0"/>
          </a:p>
        </p:txBody>
      </p:sp>
      <p:sp>
        <p:nvSpPr>
          <p:cNvPr id="33" name="Text 4">
            <a:extLst>
              <a:ext uri="{FF2B5EF4-FFF2-40B4-BE49-F238E27FC236}">
                <a16:creationId xmlns:a16="http://schemas.microsoft.com/office/drawing/2014/main" id="{9D5FF65B-CCD0-F52F-31B6-92E9C3AF85F6}"/>
              </a:ext>
            </a:extLst>
          </p:cNvPr>
          <p:cNvSpPr/>
          <p:nvPr/>
        </p:nvSpPr>
        <p:spPr>
          <a:xfrm>
            <a:off x="841247" y="6039612"/>
            <a:ext cx="1050919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050" i="1" dirty="0">
                <a:solidFill>
                  <a:srgbClr val="AE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ML-KEM y FrodoKEM, cifras del TFG; </a:t>
            </a:r>
            <a:r>
              <a:rPr lang="es-ES_tradnl" sz="1050" i="1" dirty="0" err="1">
                <a:solidFill>
                  <a:srgbClr val="AE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McEliece</a:t>
            </a:r>
            <a:r>
              <a:rPr lang="es-ES_tradnl" sz="1050" i="1" dirty="0">
                <a:solidFill>
                  <a:srgbClr val="AE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ECDH y RSA, referencia estándar. Las firmas se comparan aparte.</a:t>
            </a:r>
            <a:endParaRPr lang="es-ES_tradnl" sz="1050" dirty="0"/>
          </a:p>
        </p:txBody>
      </p:sp>
      <p:sp>
        <p:nvSpPr>
          <p:cNvPr id="34" name="Text 21">
            <a:extLst>
              <a:ext uri="{FF2B5EF4-FFF2-40B4-BE49-F238E27FC236}">
                <a16:creationId xmlns:a16="http://schemas.microsoft.com/office/drawing/2014/main" id="{85649DC8-BBA4-9159-ACF5-BF68B0DE5D06}"/>
              </a:ext>
            </a:extLst>
          </p:cNvPr>
          <p:cNvSpPr/>
          <p:nvPr/>
        </p:nvSpPr>
        <p:spPr>
          <a:xfrm>
            <a:off x="7205472" y="3463290"/>
            <a:ext cx="142924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400" b="1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12KB</a:t>
            </a:r>
            <a:endParaRPr lang="es-ES_tradnl" sz="1400" b="1" dirty="0"/>
          </a:p>
        </p:txBody>
      </p:sp>
      <p:sp>
        <p:nvSpPr>
          <p:cNvPr id="35" name="Text 21">
            <a:extLst>
              <a:ext uri="{FF2B5EF4-FFF2-40B4-BE49-F238E27FC236}">
                <a16:creationId xmlns:a16="http://schemas.microsoft.com/office/drawing/2014/main" id="{ACA659E7-73A0-5B7D-3645-A505D9CAC971}"/>
              </a:ext>
            </a:extLst>
          </p:cNvPr>
          <p:cNvSpPr/>
          <p:nvPr/>
        </p:nvSpPr>
        <p:spPr>
          <a:xfrm>
            <a:off x="7205472" y="4087367"/>
            <a:ext cx="932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_tradnl" sz="1400" b="1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15,3KB</a:t>
            </a:r>
            <a:endParaRPr lang="es-ES_tradnl" sz="1400" b="1" dirty="0"/>
          </a:p>
        </p:txBody>
      </p:sp>
      <p:sp>
        <p:nvSpPr>
          <p:cNvPr id="36" name="Text 21">
            <a:extLst>
              <a:ext uri="{FF2B5EF4-FFF2-40B4-BE49-F238E27FC236}">
                <a16:creationId xmlns:a16="http://schemas.microsoft.com/office/drawing/2014/main" id="{51AFEA5A-03FD-743B-5C38-889E8AF2B500}"/>
              </a:ext>
            </a:extLst>
          </p:cNvPr>
          <p:cNvSpPr/>
          <p:nvPr/>
        </p:nvSpPr>
        <p:spPr>
          <a:xfrm>
            <a:off x="7205472" y="4713733"/>
            <a:ext cx="142924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_tradnl" sz="1400" b="1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≈524KB</a:t>
            </a:r>
            <a:endParaRPr lang="es-ES_tradnl" sz="1400" dirty="0"/>
          </a:p>
        </p:txBody>
      </p:sp>
      <p:sp>
        <p:nvSpPr>
          <p:cNvPr id="37" name="Text 21">
            <a:extLst>
              <a:ext uri="{FF2B5EF4-FFF2-40B4-BE49-F238E27FC236}">
                <a16:creationId xmlns:a16="http://schemas.microsoft.com/office/drawing/2014/main" id="{C6B74715-5E4E-BE50-EEF7-796D0AB8DFBD}"/>
              </a:ext>
            </a:extLst>
          </p:cNvPr>
          <p:cNvSpPr/>
          <p:nvPr/>
        </p:nvSpPr>
        <p:spPr>
          <a:xfrm>
            <a:off x="9308592" y="3440430"/>
            <a:ext cx="142924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400" b="1" dirty="0">
                <a:solidFill>
                  <a:srgbClr val="5A6473"/>
                </a:solidFill>
                <a:latin typeface="Calibri" pitchFamily="34" charset="0"/>
                <a:cs typeface="Calibri" pitchFamily="34" charset="-120"/>
              </a:rPr>
              <a:t>cifrado 1,1KB</a:t>
            </a:r>
            <a:endParaRPr lang="es-ES_tradnl" sz="1400" b="1" dirty="0"/>
          </a:p>
        </p:txBody>
      </p:sp>
      <p:sp>
        <p:nvSpPr>
          <p:cNvPr id="38" name="Text 21">
            <a:extLst>
              <a:ext uri="{FF2B5EF4-FFF2-40B4-BE49-F238E27FC236}">
                <a16:creationId xmlns:a16="http://schemas.microsoft.com/office/drawing/2014/main" id="{3B7057F0-0C7D-910F-F70A-624AA36C63DA}"/>
              </a:ext>
            </a:extLst>
          </p:cNvPr>
          <p:cNvSpPr/>
          <p:nvPr/>
        </p:nvSpPr>
        <p:spPr>
          <a:xfrm>
            <a:off x="9308592" y="4087367"/>
            <a:ext cx="142924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_tradnl" sz="1400" b="1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cifrado ≈15,7KB</a:t>
            </a:r>
            <a:endParaRPr lang="es-ES_tradnl" sz="1400" b="1" dirty="0"/>
          </a:p>
        </p:txBody>
      </p:sp>
      <p:sp>
        <p:nvSpPr>
          <p:cNvPr id="39" name="Text 21">
            <a:extLst>
              <a:ext uri="{FF2B5EF4-FFF2-40B4-BE49-F238E27FC236}">
                <a16:creationId xmlns:a16="http://schemas.microsoft.com/office/drawing/2014/main" id="{07A9FA52-B65E-7C0F-853A-C6A2D2B415F1}"/>
              </a:ext>
            </a:extLst>
          </p:cNvPr>
          <p:cNvSpPr/>
          <p:nvPr/>
        </p:nvSpPr>
        <p:spPr>
          <a:xfrm>
            <a:off x="9308592" y="4727446"/>
            <a:ext cx="142924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_tradnl" sz="1400" b="1" dirty="0">
                <a:solidFill>
                  <a:srgbClr val="5A6473"/>
                </a:solidFill>
                <a:latin typeface="Calibri" pitchFamily="34" charset="0"/>
                <a:cs typeface="Calibri" pitchFamily="34" charset="-120"/>
              </a:rPr>
              <a:t>cifrado </a:t>
            </a:r>
            <a:r>
              <a:rPr lang="es-ES_tradnl" sz="1400" b="1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≈156B</a:t>
            </a:r>
            <a:endParaRPr lang="es-ES_tradnl" sz="1400" b="1" dirty="0"/>
          </a:p>
        </p:txBody>
      </p:sp>
    </p:spTree>
    <p:extLst>
      <p:ext uri="{BB962C8B-B14F-4D97-AF65-F5344CB8AC3E}">
        <p14:creationId xmlns:p14="http://schemas.microsoft.com/office/powerpoint/2010/main" val="3113637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57B76-49C9-E4AB-3C31-3286C134F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B1A6528-7B8E-9CA4-665C-62EEEAD230A1}"/>
              </a:ext>
            </a:extLst>
          </p:cNvPr>
          <p:cNvSpPr/>
          <p:nvPr/>
        </p:nvSpPr>
        <p:spPr>
          <a:xfrm>
            <a:off x="841248" y="457200"/>
            <a:ext cx="105091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_tradnl" sz="1150" b="1" kern="0" spc="300" dirty="0">
                <a:solidFill>
                  <a:srgbClr val="006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6 · EXPERIMENTO</a:t>
            </a:r>
            <a:endParaRPr lang="es-ES_tradnl" sz="1150" dirty="0"/>
          </a:p>
        </p:txBody>
      </p:sp>
      <p:pic>
        <p:nvPicPr>
          <p:cNvPr id="3" name="Image 0" descr="figs/uax_color.png">
            <a:extLst>
              <a:ext uri="{FF2B5EF4-FFF2-40B4-BE49-F238E27FC236}">
                <a16:creationId xmlns:a16="http://schemas.microsoft.com/office/drawing/2014/main" id="{00C9F758-D396-6EC4-9A86-A05A7E7AEC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6854" y="164593"/>
            <a:ext cx="1932677" cy="749808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4ADC2E3F-8425-7E29-E744-6B321B9F9365}"/>
              </a:ext>
            </a:extLst>
          </p:cNvPr>
          <p:cNvSpPr/>
          <p:nvPr/>
        </p:nvSpPr>
        <p:spPr>
          <a:xfrm>
            <a:off x="841248" y="731520"/>
            <a:ext cx="1050919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_tradnl" sz="3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Implementación experimental</a:t>
            </a:r>
            <a:endParaRPr lang="es-ES_tradnl" sz="30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7A1443D3-2499-36BB-CB89-43BE93255771}"/>
              </a:ext>
            </a:extLst>
          </p:cNvPr>
          <p:cNvSpPr/>
          <p:nvPr/>
        </p:nvSpPr>
        <p:spPr>
          <a:xfrm>
            <a:off x="841248" y="1481328"/>
            <a:ext cx="10509199" cy="0"/>
          </a:xfrm>
          <a:prstGeom prst="line">
            <a:avLst/>
          </a:prstGeom>
          <a:noFill/>
          <a:ln w="12700">
            <a:solidFill>
              <a:srgbClr val="C8CFD4"/>
            </a:solidFill>
            <a:prstDash val="solid"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D18974C9-AB07-657C-6CA0-4A0956A75AF2}"/>
              </a:ext>
            </a:extLst>
          </p:cNvPr>
          <p:cNvSpPr/>
          <p:nvPr/>
        </p:nvSpPr>
        <p:spPr>
          <a:xfrm>
            <a:off x="841248" y="6400800"/>
            <a:ext cx="10509199" cy="0"/>
          </a:xfrm>
          <a:prstGeom prst="line">
            <a:avLst/>
          </a:prstGeom>
          <a:noFill/>
          <a:ln w="9525">
            <a:solidFill>
              <a:srgbClr val="E7EBEE"/>
            </a:solidFill>
            <a:prstDash val="solid"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BA3EB223-865E-AEDA-1170-4D9AACFF5F52}"/>
              </a:ext>
            </a:extLst>
          </p:cNvPr>
          <p:cNvSpPr/>
          <p:nvPr/>
        </p:nvSpPr>
        <p:spPr>
          <a:xfrm>
            <a:off x="841248" y="645566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850" b="1" kern="0" spc="200" dirty="0">
                <a:solidFill>
                  <a:srgbClr val="AE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POSTCUÁNTICA · LEARNING WITH ERRORS</a:t>
            </a:r>
            <a:endParaRPr lang="es-ES_tradnl" sz="85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9577E857-7741-4065-2BDF-1601D08A9C2B}"/>
              </a:ext>
            </a:extLst>
          </p:cNvPr>
          <p:cNvSpPr/>
          <p:nvPr/>
        </p:nvSpPr>
        <p:spPr>
          <a:xfrm>
            <a:off x="9521647" y="64556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_tradnl" sz="850" dirty="0">
                <a:solidFill>
                  <a:srgbClr val="AEB6BD"/>
                </a:solidFill>
                <a:latin typeface="Calibri"/>
              </a:rPr>
              <a:t>09</a:t>
            </a:r>
            <a:r>
              <a:rPr lang="es-ES_tradnl" sz="850" b="0" dirty="0">
                <a:solidFill>
                  <a:srgbClr val="AEB6BD"/>
                </a:solidFill>
                <a:latin typeface="Calibri"/>
              </a:rPr>
              <a:t> / 13</a:t>
            </a:r>
            <a:endParaRPr lang="es-ES_tradnl" sz="85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92237D6-00F3-BA8B-FB51-C47C58D3449D}"/>
              </a:ext>
            </a:extLst>
          </p:cNvPr>
          <p:cNvSpPr/>
          <p:nvPr/>
        </p:nvSpPr>
        <p:spPr>
          <a:xfrm>
            <a:off x="841248" y="2388146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600" b="1" kern="0" spc="200" dirty="0">
                <a:solidFill>
                  <a:srgbClr val="006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s-ES_tradnl" sz="16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03A1A1B0-89B7-66D5-FC4F-1203A97B1F77}"/>
              </a:ext>
            </a:extLst>
          </p:cNvPr>
          <p:cNvSpPr/>
          <p:nvPr/>
        </p:nvSpPr>
        <p:spPr>
          <a:xfrm>
            <a:off x="841248" y="254588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s-ES_tradnl" sz="1650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Observar cómo el </a:t>
            </a:r>
            <a:r>
              <a:rPr lang="es-ES_tradnl" sz="16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ruido</a:t>
            </a:r>
            <a:r>
              <a:rPr lang="es-ES_tradnl" sz="1650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(σ), el </a:t>
            </a:r>
            <a:r>
              <a:rPr lang="es-ES_tradnl" sz="16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módulo</a:t>
            </a:r>
            <a:r>
              <a:rPr lang="es-ES_tradnl" sz="1650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(q) y la </a:t>
            </a:r>
            <a:r>
              <a:rPr lang="es-ES_tradnl" sz="16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dimensión</a:t>
            </a:r>
            <a:r>
              <a:rPr lang="es-ES_tradnl" sz="1650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(n) </a:t>
            </a:r>
            <a:r>
              <a:rPr lang="es-ES_tradnl" sz="16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afectan a la corrección, al coste y al tamaño de clave </a:t>
            </a:r>
          </a:p>
          <a:p>
            <a:pPr marL="0" indent="0">
              <a:lnSpc>
                <a:spcPts val="2300"/>
              </a:lnSpc>
              <a:buNone/>
            </a:pPr>
            <a:r>
              <a:rPr lang="es-ES_tradnl" sz="1650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 y por qué eso explica las decisiones de los estándares.</a:t>
            </a:r>
            <a:endParaRPr lang="es-ES_tradnl" sz="165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B8C614E1-0421-CF0F-1FE2-065611ED0B79}"/>
              </a:ext>
            </a:extLst>
          </p:cNvPr>
          <p:cNvSpPr/>
          <p:nvPr/>
        </p:nvSpPr>
        <p:spPr>
          <a:xfrm flipH="1">
            <a:off x="841248" y="4041871"/>
            <a:ext cx="4907" cy="1153482"/>
          </a:xfrm>
          <a:prstGeom prst="line">
            <a:avLst/>
          </a:prstGeom>
          <a:noFill/>
          <a:ln w="31750">
            <a:solidFill>
              <a:srgbClr val="0060AB"/>
            </a:solidFill>
            <a:prstDash val="solid"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9AA61765-B5CB-11CE-55B5-32EA0059B473}"/>
              </a:ext>
            </a:extLst>
          </p:cNvPr>
          <p:cNvSpPr/>
          <p:nvPr/>
        </p:nvSpPr>
        <p:spPr>
          <a:xfrm>
            <a:off x="1024128" y="4101505"/>
            <a:ext cx="59799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s-ES_tradnl" sz="1350" b="1" dirty="0">
                <a:solidFill>
                  <a:srgbClr val="6C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deliberadamente simplificada — no es un sistema desplegable.</a:t>
            </a:r>
            <a:endParaRPr lang="es-ES_tradnl" sz="135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A45AD57F-A699-F36D-8213-8BDA448B2972}"/>
              </a:ext>
            </a:extLst>
          </p:cNvPr>
          <p:cNvSpPr/>
          <p:nvPr/>
        </p:nvSpPr>
        <p:spPr>
          <a:xfrm>
            <a:off x="1024128" y="4522128"/>
            <a:ext cx="5623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s-ES_tradnl" sz="1200" i="1" dirty="0">
                <a:solidFill>
                  <a:srgbClr val="6C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omiten anillos, compresión, reconciliación, Fujisaki–Okamoto y canales laterales.</a:t>
            </a:r>
            <a:endParaRPr lang="es-ES_tradnl" sz="120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3E860F03-3A58-859B-018D-0D48C7217FD1}"/>
              </a:ext>
            </a:extLst>
          </p:cNvPr>
          <p:cNvSpPr/>
          <p:nvPr/>
        </p:nvSpPr>
        <p:spPr>
          <a:xfrm>
            <a:off x="7049802" y="2113827"/>
            <a:ext cx="0" cy="3017520"/>
          </a:xfrm>
          <a:prstGeom prst="line">
            <a:avLst/>
          </a:prstGeom>
          <a:noFill/>
          <a:ln w="9525">
            <a:solidFill>
              <a:srgbClr val="C8CFD4"/>
            </a:solidFill>
            <a:prstDash val="solid"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471A5D24-C287-E970-38FE-F29D90405721}"/>
              </a:ext>
            </a:extLst>
          </p:cNvPr>
          <p:cNvSpPr/>
          <p:nvPr/>
        </p:nvSpPr>
        <p:spPr>
          <a:xfrm>
            <a:off x="7235647" y="2388147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600" b="1" kern="0" spc="150" dirty="0">
                <a:solidFill>
                  <a:srgbClr val="6C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 BASE</a:t>
            </a:r>
            <a:endParaRPr lang="es-ES_tradnl" sz="16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697287B4-6A5D-E716-163E-BF77924E1E47}"/>
              </a:ext>
            </a:extLst>
          </p:cNvPr>
          <p:cNvSpPr/>
          <p:nvPr/>
        </p:nvSpPr>
        <p:spPr>
          <a:xfrm>
            <a:off x="7235647" y="275390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2000" b="1" dirty="0">
                <a:solidFill>
                  <a:srgbClr val="0060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s-ES_tradnl" sz="20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AC8DE74F-5086-2FEE-8891-65A3C7111D4F}"/>
              </a:ext>
            </a:extLst>
          </p:cNvPr>
          <p:cNvSpPr/>
          <p:nvPr/>
        </p:nvSpPr>
        <p:spPr>
          <a:xfrm>
            <a:off x="7830007" y="2753907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s-ES_tradnl" sz="16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8F479BF8-5B98-1A60-5D62-F2B6D4D02739}"/>
              </a:ext>
            </a:extLst>
          </p:cNvPr>
          <p:cNvSpPr/>
          <p:nvPr/>
        </p:nvSpPr>
        <p:spPr>
          <a:xfrm>
            <a:off x="9247327" y="2753907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400" dirty="0">
                <a:solidFill>
                  <a:srgbClr val="6C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dimensión del secreto</a:t>
            </a:r>
            <a:endParaRPr lang="es-ES_tradnl" sz="1400" dirty="0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E991991E-864D-9EEF-C39A-52D321BF1F00}"/>
              </a:ext>
            </a:extLst>
          </p:cNvPr>
          <p:cNvSpPr/>
          <p:nvPr/>
        </p:nvSpPr>
        <p:spPr>
          <a:xfrm>
            <a:off x="7235647" y="3174531"/>
            <a:ext cx="4069080" cy="0"/>
          </a:xfrm>
          <a:prstGeom prst="line">
            <a:avLst/>
          </a:prstGeom>
          <a:noFill/>
          <a:ln w="9525">
            <a:solidFill>
              <a:srgbClr val="E7EBEE"/>
            </a:solidFill>
            <a:prstDash val="solid"/>
          </a:ln>
        </p:spPr>
        <p:txBody>
          <a:bodyPr/>
          <a:lstStyle/>
          <a:p>
            <a:endParaRPr lang="es-ES_tradnl" sz="2400" dirty="0"/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1A2F66B0-D2F3-1193-A6C8-1C7D877D93C3}"/>
              </a:ext>
            </a:extLst>
          </p:cNvPr>
          <p:cNvSpPr/>
          <p:nvPr/>
        </p:nvSpPr>
        <p:spPr>
          <a:xfrm>
            <a:off x="7235647" y="325682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2000" b="1" dirty="0">
                <a:solidFill>
                  <a:srgbClr val="0060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endParaRPr lang="es-ES_tradnl" sz="2000" dirty="0"/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CF39CF5F-2A7E-7E7F-2107-5647FB367A56}"/>
              </a:ext>
            </a:extLst>
          </p:cNvPr>
          <p:cNvSpPr/>
          <p:nvPr/>
        </p:nvSpPr>
        <p:spPr>
          <a:xfrm>
            <a:off x="7830007" y="3256827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257</a:t>
            </a:r>
            <a:endParaRPr lang="es-ES_tradnl" sz="1600" dirty="0"/>
          </a:p>
        </p:txBody>
      </p:sp>
      <p:sp>
        <p:nvSpPr>
          <p:cNvPr id="22" name="Text 16">
            <a:extLst>
              <a:ext uri="{FF2B5EF4-FFF2-40B4-BE49-F238E27FC236}">
                <a16:creationId xmlns:a16="http://schemas.microsoft.com/office/drawing/2014/main" id="{780326FE-9EA5-0565-C47A-E8BFAF02A4D6}"/>
              </a:ext>
            </a:extLst>
          </p:cNvPr>
          <p:cNvSpPr/>
          <p:nvPr/>
        </p:nvSpPr>
        <p:spPr>
          <a:xfrm>
            <a:off x="9247327" y="3256827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400" dirty="0">
                <a:solidFill>
                  <a:srgbClr val="6C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primo</a:t>
            </a:r>
            <a:endParaRPr lang="es-ES_tradnl" sz="1400" dirty="0"/>
          </a:p>
        </p:txBody>
      </p:sp>
      <p:sp>
        <p:nvSpPr>
          <p:cNvPr id="23" name="Shape 17">
            <a:extLst>
              <a:ext uri="{FF2B5EF4-FFF2-40B4-BE49-F238E27FC236}">
                <a16:creationId xmlns:a16="http://schemas.microsoft.com/office/drawing/2014/main" id="{7587EB40-6C0E-467D-4ADD-A31B1E44705E}"/>
              </a:ext>
            </a:extLst>
          </p:cNvPr>
          <p:cNvSpPr/>
          <p:nvPr/>
        </p:nvSpPr>
        <p:spPr>
          <a:xfrm>
            <a:off x="7235647" y="3677451"/>
            <a:ext cx="4069080" cy="0"/>
          </a:xfrm>
          <a:prstGeom prst="line">
            <a:avLst/>
          </a:prstGeom>
          <a:noFill/>
          <a:ln w="9525">
            <a:solidFill>
              <a:srgbClr val="E7EBEE"/>
            </a:solidFill>
            <a:prstDash val="solid"/>
          </a:ln>
        </p:spPr>
        <p:txBody>
          <a:bodyPr/>
          <a:lstStyle/>
          <a:p>
            <a:endParaRPr lang="es-ES_tradnl" sz="2400" dirty="0"/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4A73C2AA-E6F9-08DB-8354-BB79843F4C4F}"/>
              </a:ext>
            </a:extLst>
          </p:cNvPr>
          <p:cNvSpPr/>
          <p:nvPr/>
        </p:nvSpPr>
        <p:spPr>
          <a:xfrm>
            <a:off x="7235647" y="375974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2000" b="1" dirty="0">
                <a:solidFill>
                  <a:srgbClr val="0060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</a:t>
            </a:r>
            <a:endParaRPr lang="es-ES_tradnl" sz="2000" dirty="0"/>
          </a:p>
        </p:txBody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A4B809A4-4AE1-369E-46ED-F7DBFF71FBCF}"/>
              </a:ext>
            </a:extLst>
          </p:cNvPr>
          <p:cNvSpPr/>
          <p:nvPr/>
        </p:nvSpPr>
        <p:spPr>
          <a:xfrm>
            <a:off x="7830007" y="3759747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s-ES_tradnl" sz="1600" dirty="0"/>
          </a:p>
        </p:txBody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0E9B54DD-8EA8-BE37-A89C-D62508E19EF0}"/>
              </a:ext>
            </a:extLst>
          </p:cNvPr>
          <p:cNvSpPr/>
          <p:nvPr/>
        </p:nvSpPr>
        <p:spPr>
          <a:xfrm>
            <a:off x="9247327" y="3759747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400" dirty="0">
                <a:solidFill>
                  <a:srgbClr val="6C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desviación del error</a:t>
            </a:r>
            <a:endParaRPr lang="es-ES_tradnl" sz="1400" dirty="0"/>
          </a:p>
        </p:txBody>
      </p:sp>
      <p:sp>
        <p:nvSpPr>
          <p:cNvPr id="27" name="Shape 21">
            <a:extLst>
              <a:ext uri="{FF2B5EF4-FFF2-40B4-BE49-F238E27FC236}">
                <a16:creationId xmlns:a16="http://schemas.microsoft.com/office/drawing/2014/main" id="{C7268E6B-2FFC-A6D2-49C1-BE50D103FE21}"/>
              </a:ext>
            </a:extLst>
          </p:cNvPr>
          <p:cNvSpPr/>
          <p:nvPr/>
        </p:nvSpPr>
        <p:spPr>
          <a:xfrm>
            <a:off x="7235647" y="4180371"/>
            <a:ext cx="4069080" cy="0"/>
          </a:xfrm>
          <a:prstGeom prst="line">
            <a:avLst/>
          </a:prstGeom>
          <a:noFill/>
          <a:ln w="9525">
            <a:solidFill>
              <a:srgbClr val="E7EBEE"/>
            </a:solidFill>
            <a:prstDash val="solid"/>
          </a:ln>
        </p:spPr>
        <p:txBody>
          <a:bodyPr/>
          <a:lstStyle/>
          <a:p>
            <a:endParaRPr lang="es-ES_tradnl" sz="2400" dirty="0"/>
          </a:p>
        </p:txBody>
      </p:sp>
      <p:sp>
        <p:nvSpPr>
          <p:cNvPr id="28" name="Text 22">
            <a:extLst>
              <a:ext uri="{FF2B5EF4-FFF2-40B4-BE49-F238E27FC236}">
                <a16:creationId xmlns:a16="http://schemas.microsoft.com/office/drawing/2014/main" id="{00048EC6-9E77-901E-5C57-5E276B7C2370}"/>
              </a:ext>
            </a:extLst>
          </p:cNvPr>
          <p:cNvSpPr/>
          <p:nvPr/>
        </p:nvSpPr>
        <p:spPr>
          <a:xfrm>
            <a:off x="7235647" y="426266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2000" b="1" dirty="0">
                <a:solidFill>
                  <a:srgbClr val="0060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endParaRPr lang="es-ES_tradnl" sz="2000" dirty="0"/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EF560F4F-B8D0-A6F9-C2FA-DD7035F2918B}"/>
              </a:ext>
            </a:extLst>
          </p:cNvPr>
          <p:cNvSpPr/>
          <p:nvPr/>
        </p:nvSpPr>
        <p:spPr>
          <a:xfrm>
            <a:off x="7830007" y="4262667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 = 128</a:t>
            </a:r>
            <a:endParaRPr lang="es-ES_tradnl" sz="1600" dirty="0"/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DAE362C2-6CD6-A3CD-DF47-A7D0934474DB}"/>
              </a:ext>
            </a:extLst>
          </p:cNvPr>
          <p:cNvSpPr/>
          <p:nvPr/>
        </p:nvSpPr>
        <p:spPr>
          <a:xfrm>
            <a:off x="9247327" y="4262667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400" dirty="0" err="1">
                <a:solidFill>
                  <a:srgbClr val="6C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nº</a:t>
            </a:r>
            <a:r>
              <a:rPr lang="es-ES_tradnl" sz="1400" dirty="0">
                <a:solidFill>
                  <a:srgbClr val="6C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muestras</a:t>
            </a:r>
            <a:endParaRPr lang="es-ES_tradnl" sz="1400" dirty="0"/>
          </a:p>
        </p:txBody>
      </p:sp>
    </p:spTree>
    <p:extLst>
      <p:ext uri="{BB962C8B-B14F-4D97-AF65-F5344CB8AC3E}">
        <p14:creationId xmlns:p14="http://schemas.microsoft.com/office/powerpoint/2010/main" val="38423784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2DCF3-1508-7D24-E8D4-50098731B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C8BA6EB-900C-2807-5DFC-3D761FEE6EAB}"/>
              </a:ext>
            </a:extLst>
          </p:cNvPr>
          <p:cNvSpPr/>
          <p:nvPr/>
        </p:nvSpPr>
        <p:spPr>
          <a:xfrm>
            <a:off x="841248" y="457200"/>
            <a:ext cx="105091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_tradnl" sz="1150" b="1" kern="0" spc="300" dirty="0">
                <a:solidFill>
                  <a:srgbClr val="006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6 · EXPERIMENTO</a:t>
            </a:r>
            <a:endParaRPr lang="es-ES_tradnl" sz="1150" dirty="0"/>
          </a:p>
        </p:txBody>
      </p:sp>
      <p:pic>
        <p:nvPicPr>
          <p:cNvPr id="3" name="Image 0" descr="figs/uax_color.png">
            <a:extLst>
              <a:ext uri="{FF2B5EF4-FFF2-40B4-BE49-F238E27FC236}">
                <a16:creationId xmlns:a16="http://schemas.microsoft.com/office/drawing/2014/main" id="{F97BC392-6428-3750-A93D-7E3D393255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6854" y="164593"/>
            <a:ext cx="1932677" cy="749808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2BFD51FC-5512-9457-111F-9F34B9B9CC98}"/>
              </a:ext>
            </a:extLst>
          </p:cNvPr>
          <p:cNvSpPr/>
          <p:nvPr/>
        </p:nvSpPr>
        <p:spPr>
          <a:xfrm>
            <a:off x="841248" y="731520"/>
            <a:ext cx="1050919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_tradnl" sz="3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El ruido define una ventana de funcionamiento</a:t>
            </a:r>
            <a:endParaRPr lang="es-ES_tradnl" sz="30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1D143352-0B96-263B-0261-77955A23DA63}"/>
              </a:ext>
            </a:extLst>
          </p:cNvPr>
          <p:cNvSpPr/>
          <p:nvPr/>
        </p:nvSpPr>
        <p:spPr>
          <a:xfrm>
            <a:off x="841248" y="1481328"/>
            <a:ext cx="10509199" cy="0"/>
          </a:xfrm>
          <a:prstGeom prst="line">
            <a:avLst/>
          </a:prstGeom>
          <a:noFill/>
          <a:ln w="12700">
            <a:solidFill>
              <a:srgbClr val="C8CFD4"/>
            </a:solidFill>
            <a:prstDash val="solid"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E3D3C643-C969-2AE4-0E81-B7BE1C3F5C52}"/>
              </a:ext>
            </a:extLst>
          </p:cNvPr>
          <p:cNvSpPr/>
          <p:nvPr/>
        </p:nvSpPr>
        <p:spPr>
          <a:xfrm>
            <a:off x="841248" y="6400800"/>
            <a:ext cx="10509199" cy="0"/>
          </a:xfrm>
          <a:prstGeom prst="line">
            <a:avLst/>
          </a:prstGeom>
          <a:noFill/>
          <a:ln w="9525">
            <a:solidFill>
              <a:srgbClr val="E7EBEE"/>
            </a:solidFill>
            <a:prstDash val="solid"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B6210268-0ACD-16E7-8133-2BC953761E22}"/>
              </a:ext>
            </a:extLst>
          </p:cNvPr>
          <p:cNvSpPr/>
          <p:nvPr/>
        </p:nvSpPr>
        <p:spPr>
          <a:xfrm>
            <a:off x="841248" y="645566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850" b="1" kern="0" spc="200" dirty="0">
                <a:solidFill>
                  <a:srgbClr val="AE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POSTCUÁNTICA · LEARNING WITH ERRORS</a:t>
            </a:r>
            <a:endParaRPr lang="es-ES_tradnl" sz="85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0C1CCE96-D1C5-B67C-5FB4-748FA86C4CFB}"/>
              </a:ext>
            </a:extLst>
          </p:cNvPr>
          <p:cNvSpPr/>
          <p:nvPr/>
        </p:nvSpPr>
        <p:spPr>
          <a:xfrm>
            <a:off x="9521647" y="64556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_tradnl" sz="850" b="0" dirty="0">
                <a:solidFill>
                  <a:srgbClr val="AEB6BD"/>
                </a:solidFill>
                <a:latin typeface="Calibri"/>
              </a:rPr>
              <a:t>10 / 13</a:t>
            </a:r>
            <a:endParaRPr lang="es-ES_tradnl" sz="85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FDDE77E4-12FC-FF66-3150-965226335876}"/>
              </a:ext>
            </a:extLst>
          </p:cNvPr>
          <p:cNvSpPr/>
          <p:nvPr/>
        </p:nvSpPr>
        <p:spPr>
          <a:xfrm>
            <a:off x="841248" y="1714499"/>
            <a:ext cx="6199632" cy="3968496"/>
          </a:xfrm>
          <a:prstGeom prst="rect">
            <a:avLst/>
          </a:prstGeom>
          <a:solidFill>
            <a:srgbClr val="FFFFFF"/>
          </a:solidFill>
          <a:ln w="9525">
            <a:solidFill>
              <a:srgbClr val="C8CFD4"/>
            </a:solidFill>
            <a:prstDash val="solid"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3D571F18-5B51-47CF-A4FB-FFE687AC5A0F}"/>
              </a:ext>
            </a:extLst>
          </p:cNvPr>
          <p:cNvSpPr/>
          <p:nvPr/>
        </p:nvSpPr>
        <p:spPr>
          <a:xfrm>
            <a:off x="923544" y="5710427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000" i="1" dirty="0">
                <a:solidFill>
                  <a:srgbClr val="6C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1 del TFG · tasa de fallo en función de σ (n=64, q=257)</a:t>
            </a:r>
            <a:endParaRPr lang="es-ES_tradnl" sz="1000" dirty="0"/>
          </a:p>
        </p:txBody>
      </p:sp>
      <p:pic>
        <p:nvPicPr>
          <p:cNvPr id="8" name="Image 1" descr="figs/fig1.png">
            <a:extLst>
              <a:ext uri="{FF2B5EF4-FFF2-40B4-BE49-F238E27FC236}">
                <a16:creationId xmlns:a16="http://schemas.microsoft.com/office/drawing/2014/main" id="{03E53521-3D3D-7502-A888-67C8C9DD51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1796795"/>
            <a:ext cx="6035040" cy="3803904"/>
          </a:xfrm>
          <a:prstGeom prst="rect">
            <a:avLst/>
          </a:prstGeom>
        </p:spPr>
      </p:pic>
      <p:sp>
        <p:nvSpPr>
          <p:cNvPr id="9" name="Oval 13">
            <a:extLst>
              <a:ext uri="{FF2B5EF4-FFF2-40B4-BE49-F238E27FC236}">
                <a16:creationId xmlns:a16="http://schemas.microsoft.com/office/drawing/2014/main" id="{F94ADD77-409E-2D1A-1719-F9F22BBB4141}"/>
              </a:ext>
            </a:extLst>
          </p:cNvPr>
          <p:cNvSpPr/>
          <p:nvPr/>
        </p:nvSpPr>
        <p:spPr>
          <a:xfrm>
            <a:off x="8049462" y="2505857"/>
            <a:ext cx="128016" cy="128016"/>
          </a:xfrm>
          <a:prstGeom prst="ellipse">
            <a:avLst/>
          </a:prstGeom>
          <a:solidFill>
            <a:srgbClr val="0060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s-ES_tradnl" sz="2400" dirty="0"/>
          </a:p>
        </p:txBody>
      </p:sp>
      <p:sp>
        <p:nvSpPr>
          <p:cNvPr id="10" name="TextBox 14">
            <a:extLst>
              <a:ext uri="{FF2B5EF4-FFF2-40B4-BE49-F238E27FC236}">
                <a16:creationId xmlns:a16="http://schemas.microsoft.com/office/drawing/2014/main" id="{41BCEE20-DF1C-CC63-6F74-455097888E90}"/>
              </a:ext>
            </a:extLst>
          </p:cNvPr>
          <p:cNvSpPr txBox="1"/>
          <p:nvPr/>
        </p:nvSpPr>
        <p:spPr>
          <a:xfrm>
            <a:off x="8323783" y="2460137"/>
            <a:ext cx="31089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_tradnl" sz="1600" b="1" i="0" dirty="0">
                <a:solidFill>
                  <a:srgbClr val="1B2430"/>
                </a:solidFill>
                <a:latin typeface="Courier New"/>
              </a:rPr>
              <a:t>σ ≤ 3</a:t>
            </a:r>
            <a:r>
              <a:rPr lang="es-ES_tradnl" sz="1600" b="1" i="0" dirty="0">
                <a:solidFill>
                  <a:srgbClr val="0060AB"/>
                </a:solidFill>
                <a:latin typeface="Calibri"/>
              </a:rPr>
              <a:t>   fallo ~0 %</a:t>
            </a:r>
          </a:p>
        </p:txBody>
      </p:sp>
      <p:sp>
        <p:nvSpPr>
          <p:cNvPr id="11" name="TextBox 15">
            <a:extLst>
              <a:ext uri="{FF2B5EF4-FFF2-40B4-BE49-F238E27FC236}">
                <a16:creationId xmlns:a16="http://schemas.microsoft.com/office/drawing/2014/main" id="{48A3C9C6-EB50-E9CE-01A2-B75EA7BA3F51}"/>
              </a:ext>
            </a:extLst>
          </p:cNvPr>
          <p:cNvSpPr txBox="1"/>
          <p:nvPr/>
        </p:nvSpPr>
        <p:spPr>
          <a:xfrm>
            <a:off x="8323783" y="2789321"/>
            <a:ext cx="3108960" cy="228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lang="es-ES_tradnl" sz="1400" b="0" i="0" dirty="0">
                <a:solidFill>
                  <a:srgbClr val="36424E"/>
                </a:solidFill>
                <a:latin typeface="Calibri"/>
              </a:rPr>
              <a:t>el ruido 8σ queda bajo q/4 ≈ 64.</a:t>
            </a:r>
          </a:p>
        </p:txBody>
      </p:sp>
      <p:sp>
        <p:nvSpPr>
          <p:cNvPr id="12" name="Oval 16">
            <a:extLst>
              <a:ext uri="{FF2B5EF4-FFF2-40B4-BE49-F238E27FC236}">
                <a16:creationId xmlns:a16="http://schemas.microsoft.com/office/drawing/2014/main" id="{C175CB65-996D-62D6-4297-084DA7AF7A47}"/>
              </a:ext>
            </a:extLst>
          </p:cNvPr>
          <p:cNvSpPr/>
          <p:nvPr/>
        </p:nvSpPr>
        <p:spPr>
          <a:xfrm>
            <a:off x="8049462" y="3465976"/>
            <a:ext cx="128016" cy="128016"/>
          </a:xfrm>
          <a:prstGeom prst="ellipse">
            <a:avLst/>
          </a:prstGeom>
          <a:solidFill>
            <a:srgbClr val="6C76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s-ES_tradnl" sz="2400" dirty="0"/>
          </a:p>
        </p:txBody>
      </p:sp>
      <p:sp>
        <p:nvSpPr>
          <p:cNvPr id="13" name="TextBox 17">
            <a:extLst>
              <a:ext uri="{FF2B5EF4-FFF2-40B4-BE49-F238E27FC236}">
                <a16:creationId xmlns:a16="http://schemas.microsoft.com/office/drawing/2014/main" id="{7ECB4EF3-7986-8B18-95C2-A738A0CA02FE}"/>
              </a:ext>
            </a:extLst>
          </p:cNvPr>
          <p:cNvSpPr txBox="1"/>
          <p:nvPr/>
        </p:nvSpPr>
        <p:spPr>
          <a:xfrm>
            <a:off x="8323783" y="3420257"/>
            <a:ext cx="31089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_tradnl" sz="1600" b="1" i="0" dirty="0">
                <a:solidFill>
                  <a:srgbClr val="1B2430"/>
                </a:solidFill>
                <a:latin typeface="Courier New"/>
              </a:rPr>
              <a:t>σ ∈ [4, 8]</a:t>
            </a:r>
            <a:r>
              <a:rPr lang="es-ES_tradnl" sz="1600" b="1" i="0" dirty="0">
                <a:solidFill>
                  <a:srgbClr val="6C7681"/>
                </a:solidFill>
                <a:latin typeface="Calibri"/>
              </a:rPr>
              <a:t>   transición</a:t>
            </a:r>
          </a:p>
        </p:txBody>
      </p:sp>
      <p:sp>
        <p:nvSpPr>
          <p:cNvPr id="14" name="TextBox 18">
            <a:extLst>
              <a:ext uri="{FF2B5EF4-FFF2-40B4-BE49-F238E27FC236}">
                <a16:creationId xmlns:a16="http://schemas.microsoft.com/office/drawing/2014/main" id="{52FC7E90-A93E-5013-F555-B5CB394B6B61}"/>
              </a:ext>
            </a:extLst>
          </p:cNvPr>
          <p:cNvSpPr txBox="1"/>
          <p:nvPr/>
        </p:nvSpPr>
        <p:spPr>
          <a:xfrm>
            <a:off x="8323783" y="3749441"/>
            <a:ext cx="3108960" cy="228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lang="es-ES_tradnl" sz="1400" b="0" i="0" dirty="0">
                <a:solidFill>
                  <a:srgbClr val="36424E"/>
                </a:solidFill>
                <a:latin typeface="Calibri"/>
              </a:rPr>
              <a:t>más variabilidad entre claves.</a:t>
            </a:r>
          </a:p>
        </p:txBody>
      </p:sp>
      <p:sp>
        <p:nvSpPr>
          <p:cNvPr id="15" name="Oval 19">
            <a:extLst>
              <a:ext uri="{FF2B5EF4-FFF2-40B4-BE49-F238E27FC236}">
                <a16:creationId xmlns:a16="http://schemas.microsoft.com/office/drawing/2014/main" id="{15D8A839-9F70-3E2F-0F50-468B4A33A55F}"/>
              </a:ext>
            </a:extLst>
          </p:cNvPr>
          <p:cNvSpPr/>
          <p:nvPr/>
        </p:nvSpPr>
        <p:spPr>
          <a:xfrm>
            <a:off x="8049462" y="4426096"/>
            <a:ext cx="128016" cy="128016"/>
          </a:xfrm>
          <a:prstGeom prst="ellipse">
            <a:avLst/>
          </a:prstGeom>
          <a:solidFill>
            <a:srgbClr val="9A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s-ES_tradnl" sz="2400" dirty="0"/>
          </a:p>
        </p:txBody>
      </p:sp>
      <p:sp>
        <p:nvSpPr>
          <p:cNvPr id="16" name="TextBox 20">
            <a:extLst>
              <a:ext uri="{FF2B5EF4-FFF2-40B4-BE49-F238E27FC236}">
                <a16:creationId xmlns:a16="http://schemas.microsoft.com/office/drawing/2014/main" id="{0A485533-7A27-F5FF-BD2E-2C097BF3FFF4}"/>
              </a:ext>
            </a:extLst>
          </p:cNvPr>
          <p:cNvSpPr txBox="1"/>
          <p:nvPr/>
        </p:nvSpPr>
        <p:spPr>
          <a:xfrm>
            <a:off x="8323783" y="4380377"/>
            <a:ext cx="31089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_tradnl" sz="1600" b="1" i="0" dirty="0">
                <a:solidFill>
                  <a:srgbClr val="1B2430"/>
                </a:solidFill>
                <a:latin typeface="Courier New"/>
              </a:rPr>
              <a:t>σ ≥ 16</a:t>
            </a:r>
            <a:r>
              <a:rPr lang="es-ES_tradnl" sz="1600" b="1" i="0" dirty="0">
                <a:solidFill>
                  <a:srgbClr val="9A3B2E"/>
                </a:solidFill>
                <a:latin typeface="Calibri"/>
              </a:rPr>
              <a:t>   fallo ≈ 0,5</a:t>
            </a:r>
          </a:p>
        </p:txBody>
      </p:sp>
      <p:sp>
        <p:nvSpPr>
          <p:cNvPr id="20" name="TextBox 21">
            <a:extLst>
              <a:ext uri="{FF2B5EF4-FFF2-40B4-BE49-F238E27FC236}">
                <a16:creationId xmlns:a16="http://schemas.microsoft.com/office/drawing/2014/main" id="{3EE6F064-5580-1562-EB1B-D46B45274F29}"/>
              </a:ext>
            </a:extLst>
          </p:cNvPr>
          <p:cNvSpPr txBox="1"/>
          <p:nvPr/>
        </p:nvSpPr>
        <p:spPr>
          <a:xfrm>
            <a:off x="8323783" y="4709561"/>
            <a:ext cx="3108960" cy="228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lang="es-ES_tradnl" sz="1400" b="0" i="0" dirty="0">
                <a:solidFill>
                  <a:srgbClr val="36424E"/>
                </a:solidFill>
                <a:latin typeface="Calibri"/>
              </a:rPr>
              <a:t>indistinguible del azar.</a:t>
            </a:r>
          </a:p>
        </p:txBody>
      </p:sp>
      <p:cxnSp>
        <p:nvCxnSpPr>
          <p:cNvPr id="21" name="Connector 12">
            <a:extLst>
              <a:ext uri="{FF2B5EF4-FFF2-40B4-BE49-F238E27FC236}">
                <a16:creationId xmlns:a16="http://schemas.microsoft.com/office/drawing/2014/main" id="{D5A6DAD9-1A63-3DA9-5EFC-33C85F9870AC}"/>
              </a:ext>
            </a:extLst>
          </p:cNvPr>
          <p:cNvCxnSpPr/>
          <p:nvPr/>
        </p:nvCxnSpPr>
        <p:spPr>
          <a:xfrm>
            <a:off x="7701295" y="2111998"/>
            <a:ext cx="0" cy="3108960"/>
          </a:xfrm>
          <a:prstGeom prst="bentConnector3">
            <a:avLst/>
          </a:prstGeom>
          <a:ln w="12700">
            <a:solidFill>
              <a:srgbClr val="C8CF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68838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70CE3-7CF0-D312-8D57-16C64BDA9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222E52C-7DFB-425C-538E-7B5C22B9CDA5}"/>
              </a:ext>
            </a:extLst>
          </p:cNvPr>
          <p:cNvSpPr/>
          <p:nvPr/>
        </p:nvSpPr>
        <p:spPr>
          <a:xfrm>
            <a:off x="841248" y="457200"/>
            <a:ext cx="105091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_tradnl" sz="1150" b="1" kern="0" spc="300" dirty="0">
                <a:solidFill>
                  <a:srgbClr val="006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6 · EXPERIMENTO</a:t>
            </a:r>
            <a:endParaRPr lang="es-ES_tradnl" sz="1150" dirty="0"/>
          </a:p>
        </p:txBody>
      </p:sp>
      <p:pic>
        <p:nvPicPr>
          <p:cNvPr id="3" name="Image 0" descr="figs/uax_color.png">
            <a:extLst>
              <a:ext uri="{FF2B5EF4-FFF2-40B4-BE49-F238E27FC236}">
                <a16:creationId xmlns:a16="http://schemas.microsoft.com/office/drawing/2014/main" id="{A238B99A-903D-C1E2-B9AC-AB1909A7E9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6854" y="164593"/>
            <a:ext cx="1932677" cy="749808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64B843FC-DDF1-41CE-0AD1-F2E30B7F0453}"/>
              </a:ext>
            </a:extLst>
          </p:cNvPr>
          <p:cNvSpPr/>
          <p:nvPr/>
        </p:nvSpPr>
        <p:spPr>
          <a:xfrm>
            <a:off x="841248" y="731520"/>
            <a:ext cx="1050919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_tradnl" sz="3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El módulo amplía el margen; la dimensión dispara el coste</a:t>
            </a:r>
            <a:endParaRPr lang="es-ES_tradnl" sz="30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506B40A6-2DD7-0605-2AA9-5A1CCE0628E4}"/>
              </a:ext>
            </a:extLst>
          </p:cNvPr>
          <p:cNvSpPr/>
          <p:nvPr/>
        </p:nvSpPr>
        <p:spPr>
          <a:xfrm>
            <a:off x="841248" y="1481328"/>
            <a:ext cx="10509199" cy="0"/>
          </a:xfrm>
          <a:prstGeom prst="line">
            <a:avLst/>
          </a:prstGeom>
          <a:noFill/>
          <a:ln w="12700">
            <a:solidFill>
              <a:srgbClr val="C8CFD4"/>
            </a:solidFill>
            <a:prstDash val="solid"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8E24493F-AB7A-7297-4C68-6F2252C1590D}"/>
              </a:ext>
            </a:extLst>
          </p:cNvPr>
          <p:cNvSpPr/>
          <p:nvPr/>
        </p:nvSpPr>
        <p:spPr>
          <a:xfrm>
            <a:off x="841248" y="6400800"/>
            <a:ext cx="10509199" cy="0"/>
          </a:xfrm>
          <a:prstGeom prst="line">
            <a:avLst/>
          </a:prstGeom>
          <a:noFill/>
          <a:ln w="9525">
            <a:solidFill>
              <a:srgbClr val="E7EBEE"/>
            </a:solidFill>
            <a:prstDash val="solid"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97711CE9-504B-DB05-9F70-54D782239BD3}"/>
              </a:ext>
            </a:extLst>
          </p:cNvPr>
          <p:cNvSpPr/>
          <p:nvPr/>
        </p:nvSpPr>
        <p:spPr>
          <a:xfrm>
            <a:off x="841248" y="645566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850" b="1" kern="0" spc="200" dirty="0">
                <a:solidFill>
                  <a:srgbClr val="AE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POSTCUÁNTICA · LEARNING WITH ERRORS</a:t>
            </a:r>
            <a:endParaRPr lang="es-ES_tradnl" sz="85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96B7BD14-E81B-319C-D342-D24D355D03B8}"/>
              </a:ext>
            </a:extLst>
          </p:cNvPr>
          <p:cNvSpPr/>
          <p:nvPr/>
        </p:nvSpPr>
        <p:spPr>
          <a:xfrm>
            <a:off x="9521647" y="64556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_tradnl" sz="850" dirty="0">
                <a:solidFill>
                  <a:srgbClr val="AEB6BD"/>
                </a:solidFill>
                <a:latin typeface="Calibri"/>
              </a:rPr>
              <a:t>11</a:t>
            </a:r>
            <a:r>
              <a:rPr lang="es-ES_tradnl" sz="850" b="0" dirty="0">
                <a:solidFill>
                  <a:srgbClr val="AEB6BD"/>
                </a:solidFill>
                <a:latin typeface="Calibri"/>
              </a:rPr>
              <a:t> / 13</a:t>
            </a:r>
            <a:endParaRPr lang="es-ES_tradnl" sz="85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4500631-9F7F-D7D7-C6EF-91DA5440C7D8}"/>
              </a:ext>
            </a:extLst>
          </p:cNvPr>
          <p:cNvSpPr/>
          <p:nvPr/>
        </p:nvSpPr>
        <p:spPr>
          <a:xfrm>
            <a:off x="853135" y="18745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400" b="1" kern="0" spc="15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FALLO DE DESCIFRADO  vs.  MÓDULO q</a:t>
            </a:r>
            <a:endParaRPr lang="es-ES_tradnl" sz="1400" dirty="0">
              <a:solidFill>
                <a:schemeClr val="accent1"/>
              </a:solidFill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FA6D3C06-F042-E1B3-C49C-CA05342CB2E9}"/>
              </a:ext>
            </a:extLst>
          </p:cNvPr>
          <p:cNvSpPr/>
          <p:nvPr/>
        </p:nvSpPr>
        <p:spPr>
          <a:xfrm>
            <a:off x="6366967" y="18745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400" b="1" kern="0" spc="15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 PÚBLICA  vs.  DIMENSIÓN n</a:t>
            </a:r>
            <a:endParaRPr lang="es-ES_tradnl" sz="1400" dirty="0">
              <a:solidFill>
                <a:schemeClr val="accent1"/>
              </a:solidFill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CE3DCB84-49BD-9FAA-092E-6881CFB7EB4B}"/>
              </a:ext>
            </a:extLst>
          </p:cNvPr>
          <p:cNvSpPr/>
          <p:nvPr/>
        </p:nvSpPr>
        <p:spPr>
          <a:xfrm>
            <a:off x="853135" y="5504689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s-ES_tradnl" sz="1200" b="1" dirty="0">
                <a:solidFill>
                  <a:srgbClr val="006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q</a:t>
            </a:r>
            <a:r>
              <a:rPr lang="es-ES_tradnl" sz="1200" dirty="0">
                <a:solidFill>
                  <a:srgbClr val="36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⇒ más margen q/4 y menos fallo (σ·√(m/2) ≪ q/4).</a:t>
            </a:r>
            <a:endParaRPr lang="es-ES_tradnl" sz="12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95C212D2-A872-E6A9-F513-DDF4987B7B43}"/>
              </a:ext>
            </a:extLst>
          </p:cNvPr>
          <p:cNvSpPr/>
          <p:nvPr/>
        </p:nvSpPr>
        <p:spPr>
          <a:xfrm>
            <a:off x="6401105" y="5522977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s-ES_tradnl" sz="1200" b="1" dirty="0">
                <a:solidFill>
                  <a:srgbClr val="006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 ≈ n²</a:t>
            </a:r>
            <a:r>
              <a:rPr lang="es-ES_tradnl" sz="1200" dirty="0">
                <a:solidFill>
                  <a:srgbClr val="36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por eso los estándares usan Module-LWE con NTT, O(n log n).</a:t>
            </a:r>
            <a:endParaRPr lang="es-ES_tradnl" sz="1200" dirty="0"/>
          </a:p>
        </p:txBody>
      </p:sp>
      <p:pic>
        <p:nvPicPr>
          <p:cNvPr id="10" name="Picture 9" descr="chart_q.png">
            <a:extLst>
              <a:ext uri="{FF2B5EF4-FFF2-40B4-BE49-F238E27FC236}">
                <a16:creationId xmlns:a16="http://schemas.microsoft.com/office/drawing/2014/main" id="{08645C42-050D-BC6F-247C-1A8F0BA6DA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2331720"/>
            <a:ext cx="5029200" cy="3127248"/>
          </a:xfrm>
          <a:prstGeom prst="rect">
            <a:avLst/>
          </a:prstGeom>
        </p:spPr>
      </p:pic>
      <p:graphicFrame>
        <p:nvGraphicFramePr>
          <p:cNvPr id="11" name="Chart 1">
            <a:extLst>
              <a:ext uri="{FF2B5EF4-FFF2-40B4-BE49-F238E27FC236}">
                <a16:creationId xmlns:a16="http://schemas.microsoft.com/office/drawing/2014/main" id="{D5379211-D449-ABC1-BD20-5C3CC97E1D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1208915"/>
              </p:ext>
            </p:extLst>
          </p:nvPr>
        </p:nvGraphicFramePr>
        <p:xfrm>
          <a:off x="6275527" y="2304285"/>
          <a:ext cx="5074920" cy="32186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5493929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70CE3-7CF0-D312-8D57-16C64BDA9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222E52C-7DFB-425C-538E-7B5C22B9CDA5}"/>
              </a:ext>
            </a:extLst>
          </p:cNvPr>
          <p:cNvSpPr/>
          <p:nvPr/>
        </p:nvSpPr>
        <p:spPr>
          <a:xfrm>
            <a:off x="841248" y="457200"/>
            <a:ext cx="105091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_tradnl" sz="1150" b="1" spc="150" dirty="0">
                <a:solidFill>
                  <a:srgbClr val="0060AB"/>
                </a:solidFill>
              </a:rPr>
              <a:t>§ 7 · IMPACTO</a:t>
            </a:r>
          </a:p>
        </p:txBody>
      </p:sp>
      <p:pic>
        <p:nvPicPr>
          <p:cNvPr id="3" name="Image 0" descr="figs/uax_color.png">
            <a:extLst>
              <a:ext uri="{FF2B5EF4-FFF2-40B4-BE49-F238E27FC236}">
                <a16:creationId xmlns:a16="http://schemas.microsoft.com/office/drawing/2014/main" id="{A238B99A-903D-C1E2-B9AC-AB1909A7E9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6854" y="164593"/>
            <a:ext cx="1932677" cy="749808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64B843FC-DDF1-41CE-0AD1-F2E30B7F0453}"/>
              </a:ext>
            </a:extLst>
          </p:cNvPr>
          <p:cNvSpPr/>
          <p:nvPr/>
        </p:nvSpPr>
        <p:spPr>
          <a:xfrm>
            <a:off x="841248" y="731520"/>
            <a:ext cx="1050919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_tradnl" sz="3000" b="1" dirty="0">
                <a:latin typeface="Cambria"/>
              </a:rPr>
              <a:t>Seguridad postcuántica — seguridad cuántica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506B40A6-2DD7-0605-2AA9-5A1CCE0628E4}"/>
              </a:ext>
            </a:extLst>
          </p:cNvPr>
          <p:cNvSpPr/>
          <p:nvPr/>
        </p:nvSpPr>
        <p:spPr>
          <a:xfrm>
            <a:off x="841248" y="1481328"/>
            <a:ext cx="10509199" cy="0"/>
          </a:xfrm>
          <a:prstGeom prst="line">
            <a:avLst/>
          </a:prstGeom>
          <a:noFill/>
          <a:ln w="12700">
            <a:solidFill>
              <a:srgbClr val="C8CFD4"/>
            </a:solidFill>
            <a:prstDash val="solid"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8E24493F-AB7A-7297-4C68-6F2252C1590D}"/>
              </a:ext>
            </a:extLst>
          </p:cNvPr>
          <p:cNvSpPr/>
          <p:nvPr/>
        </p:nvSpPr>
        <p:spPr>
          <a:xfrm>
            <a:off x="841248" y="6400800"/>
            <a:ext cx="10509199" cy="0"/>
          </a:xfrm>
          <a:prstGeom prst="line">
            <a:avLst/>
          </a:prstGeom>
          <a:noFill/>
          <a:ln w="9525">
            <a:solidFill>
              <a:srgbClr val="E7EBEE"/>
            </a:solidFill>
            <a:prstDash val="solid"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97711CE9-504B-DB05-9F70-54D782239BD3}"/>
              </a:ext>
            </a:extLst>
          </p:cNvPr>
          <p:cNvSpPr/>
          <p:nvPr/>
        </p:nvSpPr>
        <p:spPr>
          <a:xfrm>
            <a:off x="841248" y="645566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850" b="1" kern="0" spc="200" dirty="0">
                <a:solidFill>
                  <a:srgbClr val="AE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POSTCUÁNTICA · LEARNING WITH ERRORS</a:t>
            </a:r>
            <a:endParaRPr lang="es-ES_tradnl" sz="85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96B7BD14-E81B-319C-D342-D24D355D03B8}"/>
              </a:ext>
            </a:extLst>
          </p:cNvPr>
          <p:cNvSpPr/>
          <p:nvPr/>
        </p:nvSpPr>
        <p:spPr>
          <a:xfrm>
            <a:off x="9521647" y="64556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_tradnl" sz="850" b="0" dirty="0">
                <a:solidFill>
                  <a:srgbClr val="AEB6BD"/>
                </a:solidFill>
                <a:latin typeface="Calibri"/>
              </a:rPr>
              <a:t>12 / 13</a:t>
            </a:r>
            <a:endParaRPr lang="es-ES_tradnl" sz="850" dirty="0"/>
          </a:p>
        </p:txBody>
      </p:sp>
      <p:sp>
        <p:nvSpPr>
          <p:cNvPr id="6" name="Rounded Rectangle 8">
            <a:extLst>
              <a:ext uri="{FF2B5EF4-FFF2-40B4-BE49-F238E27FC236}">
                <a16:creationId xmlns:a16="http://schemas.microsoft.com/office/drawing/2014/main" id="{56622251-DE9A-D22E-62E8-08F6FBED251B}"/>
              </a:ext>
            </a:extLst>
          </p:cNvPr>
          <p:cNvSpPr/>
          <p:nvPr/>
        </p:nvSpPr>
        <p:spPr>
          <a:xfrm>
            <a:off x="3427340" y="1774692"/>
            <a:ext cx="3520440" cy="548640"/>
          </a:xfrm>
          <a:prstGeom prst="roundRect">
            <a:avLst>
              <a:gd name="adj" fmla="val 18000"/>
            </a:avLst>
          </a:prstGeom>
          <a:solidFill>
            <a:srgbClr val="0060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lang="es-ES_tradnl" sz="1600" b="1" i="0" dirty="0">
                <a:solidFill>
                  <a:srgbClr val="FFFFFF"/>
                </a:solidFill>
                <a:latin typeface="Cambria"/>
              </a:rPr>
              <a:t>PQC · retículos</a:t>
            </a:r>
          </a:p>
        </p:txBody>
      </p:sp>
      <p:sp>
        <p:nvSpPr>
          <p:cNvPr id="7" name="Rounded Rectangle 9">
            <a:extLst>
              <a:ext uri="{FF2B5EF4-FFF2-40B4-BE49-F238E27FC236}">
                <a16:creationId xmlns:a16="http://schemas.microsoft.com/office/drawing/2014/main" id="{C7E54C31-DCA2-E21F-5B61-B4BD551967E9}"/>
              </a:ext>
            </a:extLst>
          </p:cNvPr>
          <p:cNvSpPr/>
          <p:nvPr/>
        </p:nvSpPr>
        <p:spPr>
          <a:xfrm>
            <a:off x="7084940" y="1774692"/>
            <a:ext cx="3520440" cy="548640"/>
          </a:xfrm>
          <a:prstGeom prst="roundRect">
            <a:avLst>
              <a:gd name="adj" fmla="val 18000"/>
            </a:avLst>
          </a:prstGeom>
          <a:solidFill>
            <a:srgbClr val="F3F6F8"/>
          </a:solidFill>
          <a:ln w="12700">
            <a:solidFill>
              <a:srgbClr val="AEB6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lang="es-ES_tradnl" sz="1600" b="1" i="0" dirty="0">
                <a:solidFill>
                  <a:srgbClr val="36424E"/>
                </a:solidFill>
                <a:latin typeface="Cambria"/>
              </a:rPr>
              <a:t>QKD · BB84</a:t>
            </a:r>
          </a:p>
        </p:txBody>
      </p:sp>
      <p:sp>
        <p:nvSpPr>
          <p:cNvPr id="8" name="Rectangle 10">
            <a:extLst>
              <a:ext uri="{FF2B5EF4-FFF2-40B4-BE49-F238E27FC236}">
                <a16:creationId xmlns:a16="http://schemas.microsoft.com/office/drawing/2014/main" id="{8DECB11B-4706-2AA8-D1E9-F52FAFF9E590}"/>
              </a:ext>
            </a:extLst>
          </p:cNvPr>
          <p:cNvSpPr/>
          <p:nvPr/>
        </p:nvSpPr>
        <p:spPr>
          <a:xfrm>
            <a:off x="1324220" y="2451348"/>
            <a:ext cx="9281160" cy="621792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14024028-1070-FD19-75F8-4315E6AD1A36}"/>
              </a:ext>
            </a:extLst>
          </p:cNvPr>
          <p:cNvSpPr txBox="1"/>
          <p:nvPr/>
        </p:nvSpPr>
        <p:spPr>
          <a:xfrm>
            <a:off x="1652014" y="2646418"/>
            <a:ext cx="1893077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s-ES_tradnl" sz="1250" b="1" i="0" spc="3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Hardware</a:t>
            </a:r>
          </a:p>
        </p:txBody>
      </p:sp>
      <p:sp>
        <p:nvSpPr>
          <p:cNvPr id="10" name="TextBox 12">
            <a:extLst>
              <a:ext uri="{FF2B5EF4-FFF2-40B4-BE49-F238E27FC236}">
                <a16:creationId xmlns:a16="http://schemas.microsoft.com/office/drawing/2014/main" id="{69BF06C1-17F7-02E8-ACF0-BFB7AFF17CE1}"/>
              </a:ext>
            </a:extLst>
          </p:cNvPr>
          <p:cNvSpPr txBox="1"/>
          <p:nvPr/>
        </p:nvSpPr>
        <p:spPr>
          <a:xfrm>
            <a:off x="4093732" y="2451348"/>
            <a:ext cx="30175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_tradnl" sz="1400" b="0" i="0" dirty="0">
                <a:solidFill>
                  <a:srgbClr val="1B2430"/>
                </a:solidFill>
                <a:latin typeface="Calibri"/>
              </a:rPr>
              <a:t>Solo software</a:t>
            </a:r>
          </a:p>
        </p:txBody>
      </p:sp>
      <p:sp>
        <p:nvSpPr>
          <p:cNvPr id="11" name="TextBox 13">
            <a:extLst>
              <a:ext uri="{FF2B5EF4-FFF2-40B4-BE49-F238E27FC236}">
                <a16:creationId xmlns:a16="http://schemas.microsoft.com/office/drawing/2014/main" id="{63750EC6-2621-3B75-76DD-6F2B880D6648}"/>
              </a:ext>
            </a:extLst>
          </p:cNvPr>
          <p:cNvSpPr txBox="1"/>
          <p:nvPr/>
        </p:nvSpPr>
        <p:spPr>
          <a:xfrm>
            <a:off x="3727972" y="262508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s-ES_tradnl" sz="1600" b="1" i="0" dirty="0">
                <a:solidFill>
                  <a:srgbClr val="0060AB"/>
                </a:solidFill>
                <a:latin typeface="Calibri"/>
              </a:rPr>
              <a:t>✓</a:t>
            </a:r>
          </a:p>
        </p:txBody>
      </p:sp>
      <p:sp>
        <p:nvSpPr>
          <p:cNvPr id="12" name="TextBox 14">
            <a:extLst>
              <a:ext uri="{FF2B5EF4-FFF2-40B4-BE49-F238E27FC236}">
                <a16:creationId xmlns:a16="http://schemas.microsoft.com/office/drawing/2014/main" id="{7D2E4CDA-443A-0287-BCD8-290626835024}"/>
              </a:ext>
            </a:extLst>
          </p:cNvPr>
          <p:cNvSpPr txBox="1"/>
          <p:nvPr/>
        </p:nvSpPr>
        <p:spPr>
          <a:xfrm>
            <a:off x="7751332" y="2654522"/>
            <a:ext cx="301752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_tradnl" sz="1400" b="0" i="0" dirty="0">
                <a:latin typeface="Calibri"/>
              </a:rPr>
              <a:t>Canales y HW físicos</a:t>
            </a:r>
          </a:p>
        </p:txBody>
      </p:sp>
      <p:sp>
        <p:nvSpPr>
          <p:cNvPr id="13" name="TextBox 15">
            <a:extLst>
              <a:ext uri="{FF2B5EF4-FFF2-40B4-BE49-F238E27FC236}">
                <a16:creationId xmlns:a16="http://schemas.microsoft.com/office/drawing/2014/main" id="{0A07B5C6-F617-683F-0DC9-ED47BDECE7A4}"/>
              </a:ext>
            </a:extLst>
          </p:cNvPr>
          <p:cNvSpPr txBox="1"/>
          <p:nvPr/>
        </p:nvSpPr>
        <p:spPr>
          <a:xfrm>
            <a:off x="7385571" y="262508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s-ES_tradnl" sz="1400" b="1" i="0" dirty="0">
                <a:solidFill>
                  <a:srgbClr val="AEB6BD"/>
                </a:solidFill>
                <a:latin typeface="Calibri"/>
              </a:rPr>
              <a:t>✕</a:t>
            </a:r>
          </a:p>
        </p:txBody>
      </p:sp>
      <p:sp>
        <p:nvSpPr>
          <p:cNvPr id="14" name="TextBox 16">
            <a:extLst>
              <a:ext uri="{FF2B5EF4-FFF2-40B4-BE49-F238E27FC236}">
                <a16:creationId xmlns:a16="http://schemas.microsoft.com/office/drawing/2014/main" id="{5C5248E1-79FC-2DA9-F216-E51044CF23B3}"/>
              </a:ext>
            </a:extLst>
          </p:cNvPr>
          <p:cNvSpPr txBox="1"/>
          <p:nvPr/>
        </p:nvSpPr>
        <p:spPr>
          <a:xfrm>
            <a:off x="1652014" y="3349495"/>
            <a:ext cx="1893077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_tradnl" sz="1250" b="1" i="0" spc="3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Qué cubre</a:t>
            </a:r>
          </a:p>
        </p:txBody>
      </p:sp>
      <p:sp>
        <p:nvSpPr>
          <p:cNvPr id="15" name="TextBox 17">
            <a:extLst>
              <a:ext uri="{FF2B5EF4-FFF2-40B4-BE49-F238E27FC236}">
                <a16:creationId xmlns:a16="http://schemas.microsoft.com/office/drawing/2014/main" id="{F2D4D037-D006-025F-F6D9-0D06F85D898A}"/>
              </a:ext>
            </a:extLst>
          </p:cNvPr>
          <p:cNvSpPr txBox="1"/>
          <p:nvPr/>
        </p:nvSpPr>
        <p:spPr>
          <a:xfrm>
            <a:off x="4093732" y="3164581"/>
            <a:ext cx="30175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_tradnl" sz="1400" b="0" i="0" dirty="0">
                <a:solidFill>
                  <a:srgbClr val="1B2430"/>
                </a:solidFill>
                <a:latin typeface="Calibri"/>
              </a:rPr>
              <a:t>Claves, cifrado y firma</a:t>
            </a:r>
          </a:p>
        </p:txBody>
      </p:sp>
      <p:sp>
        <p:nvSpPr>
          <p:cNvPr id="16" name="TextBox 18">
            <a:extLst>
              <a:ext uri="{FF2B5EF4-FFF2-40B4-BE49-F238E27FC236}">
                <a16:creationId xmlns:a16="http://schemas.microsoft.com/office/drawing/2014/main" id="{EFD483C1-BA92-FE46-A0E7-6D292F797A16}"/>
              </a:ext>
            </a:extLst>
          </p:cNvPr>
          <p:cNvSpPr txBox="1"/>
          <p:nvPr/>
        </p:nvSpPr>
        <p:spPr>
          <a:xfrm>
            <a:off x="3727972" y="3338317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s-ES_tradnl" sz="1600" b="1" i="0" dirty="0">
                <a:solidFill>
                  <a:srgbClr val="0060AB"/>
                </a:solidFill>
                <a:latin typeface="Calibri"/>
              </a:rPr>
              <a:t>✓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3272CF6-5A59-670D-8C27-A6AAEEE78616}"/>
              </a:ext>
            </a:extLst>
          </p:cNvPr>
          <p:cNvSpPr txBox="1"/>
          <p:nvPr/>
        </p:nvSpPr>
        <p:spPr>
          <a:xfrm>
            <a:off x="7751332" y="3367755"/>
            <a:ext cx="301752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_tradnl" sz="1400" b="0" i="0" dirty="0">
                <a:latin typeface="Calibri"/>
              </a:rPr>
              <a:t>Solo claves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34DD524-AF17-A330-BF04-2068C5073BD1}"/>
              </a:ext>
            </a:extLst>
          </p:cNvPr>
          <p:cNvSpPr txBox="1"/>
          <p:nvPr/>
        </p:nvSpPr>
        <p:spPr>
          <a:xfrm>
            <a:off x="7385571" y="3338317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s-ES_tradnl" sz="1400" b="1" i="0" dirty="0">
                <a:solidFill>
                  <a:srgbClr val="AEB6BD"/>
                </a:solidFill>
                <a:latin typeface="Calibri"/>
              </a:rPr>
              <a:t>✕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30D2D41-A3EB-50E0-0929-A8E9206A0F78}"/>
              </a:ext>
            </a:extLst>
          </p:cNvPr>
          <p:cNvSpPr/>
          <p:nvPr/>
        </p:nvSpPr>
        <p:spPr>
          <a:xfrm>
            <a:off x="1324220" y="3877813"/>
            <a:ext cx="9281160" cy="621792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BD61428-27EC-DB73-D14E-0B8CEE9F400A}"/>
              </a:ext>
            </a:extLst>
          </p:cNvPr>
          <p:cNvSpPr txBox="1"/>
          <p:nvPr/>
        </p:nvSpPr>
        <p:spPr>
          <a:xfrm>
            <a:off x="1652014" y="4071640"/>
            <a:ext cx="1893077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_tradnl" sz="1250" b="1" i="0" spc="3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Coste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A0EF285-DD36-5EB3-4E1F-BB72872AFC4A}"/>
              </a:ext>
            </a:extLst>
          </p:cNvPr>
          <p:cNvSpPr txBox="1"/>
          <p:nvPr/>
        </p:nvSpPr>
        <p:spPr>
          <a:xfrm>
            <a:off x="4093732" y="3877813"/>
            <a:ext cx="30175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_tradnl" sz="1400" b="0" i="0" dirty="0">
                <a:solidFill>
                  <a:srgbClr val="1B2430"/>
                </a:solidFill>
                <a:latin typeface="Calibri"/>
              </a:rPr>
              <a:t>Bajo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DDEA19-7CAA-9FD9-44CB-B3EE39D01AD8}"/>
              </a:ext>
            </a:extLst>
          </p:cNvPr>
          <p:cNvSpPr txBox="1"/>
          <p:nvPr/>
        </p:nvSpPr>
        <p:spPr>
          <a:xfrm>
            <a:off x="3727972" y="4051549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s-ES_tradnl" sz="1600" b="1" i="0" dirty="0">
                <a:solidFill>
                  <a:srgbClr val="0060AB"/>
                </a:solidFill>
                <a:latin typeface="Calibri"/>
              </a:rPr>
              <a:t>✓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9D9B5CC-B1A9-36B2-EE77-7F04E7F8EEFD}"/>
              </a:ext>
            </a:extLst>
          </p:cNvPr>
          <p:cNvSpPr txBox="1"/>
          <p:nvPr/>
        </p:nvSpPr>
        <p:spPr>
          <a:xfrm>
            <a:off x="7751332" y="4080987"/>
            <a:ext cx="301752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_tradnl" sz="1400" b="0" i="0" dirty="0">
                <a:latin typeface="Calibri"/>
              </a:rPr>
              <a:t>Alto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5FBB18B-6919-17FC-EFE4-CBACFDCC32D7}"/>
              </a:ext>
            </a:extLst>
          </p:cNvPr>
          <p:cNvSpPr txBox="1"/>
          <p:nvPr/>
        </p:nvSpPr>
        <p:spPr>
          <a:xfrm>
            <a:off x="7385571" y="4051549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s-ES_tradnl" sz="1400" b="1" i="0" dirty="0">
                <a:solidFill>
                  <a:srgbClr val="AEB6BD"/>
                </a:solidFill>
                <a:latin typeface="Calibri"/>
              </a:rPr>
              <a:t>✕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4AD4EFD-D1B2-C830-371D-399630377D24}"/>
              </a:ext>
            </a:extLst>
          </p:cNvPr>
          <p:cNvSpPr txBox="1"/>
          <p:nvPr/>
        </p:nvSpPr>
        <p:spPr>
          <a:xfrm>
            <a:off x="1652014" y="4805761"/>
            <a:ext cx="1893077" cy="1923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_tradnl" sz="1250" b="1" i="0" spc="3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Distancia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D14EA31-E5CD-1A99-6A34-044B42AB2496}"/>
              </a:ext>
            </a:extLst>
          </p:cNvPr>
          <p:cNvSpPr txBox="1"/>
          <p:nvPr/>
        </p:nvSpPr>
        <p:spPr>
          <a:xfrm>
            <a:off x="4093732" y="4794219"/>
            <a:ext cx="301752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_tradnl" sz="1400" b="0" i="0" dirty="0">
                <a:solidFill>
                  <a:srgbClr val="1B2430"/>
                </a:solidFill>
                <a:latin typeface="Calibri"/>
              </a:rPr>
              <a:t>Sin límite práctico - Internet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7587E2E-942E-7AE2-ED27-2F9857EF290A}"/>
              </a:ext>
            </a:extLst>
          </p:cNvPr>
          <p:cNvSpPr txBox="1"/>
          <p:nvPr/>
        </p:nvSpPr>
        <p:spPr>
          <a:xfrm>
            <a:off x="3727972" y="476478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s-ES_tradnl" sz="1600" b="1" i="0" dirty="0">
                <a:solidFill>
                  <a:srgbClr val="0060AB"/>
                </a:solidFill>
                <a:latin typeface="Calibri"/>
              </a:rPr>
              <a:t>✓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6C07C83-06A2-2848-C9E4-0759316C3852}"/>
              </a:ext>
            </a:extLst>
          </p:cNvPr>
          <p:cNvSpPr txBox="1"/>
          <p:nvPr/>
        </p:nvSpPr>
        <p:spPr>
          <a:xfrm>
            <a:off x="7751332" y="4794219"/>
            <a:ext cx="301752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_tradnl" sz="1400" b="0" i="0" dirty="0">
                <a:latin typeface="Calibri"/>
              </a:rPr>
              <a:t>Limitada – física y canal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87D8DDA-3539-6D93-B5E0-65D2C7426A6A}"/>
              </a:ext>
            </a:extLst>
          </p:cNvPr>
          <p:cNvSpPr txBox="1"/>
          <p:nvPr/>
        </p:nvSpPr>
        <p:spPr>
          <a:xfrm>
            <a:off x="7385571" y="476478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s-ES_tradnl" sz="1400" b="1" i="0" dirty="0">
                <a:solidFill>
                  <a:srgbClr val="AEB6BD"/>
                </a:solidFill>
                <a:latin typeface="Calibri"/>
              </a:rPr>
              <a:t>✕</a:t>
            </a:r>
          </a:p>
        </p:txBody>
      </p:sp>
      <p:sp>
        <p:nvSpPr>
          <p:cNvPr id="38" name="Rectangle 21">
            <a:extLst>
              <a:ext uri="{FF2B5EF4-FFF2-40B4-BE49-F238E27FC236}">
                <a16:creationId xmlns:a16="http://schemas.microsoft.com/office/drawing/2014/main" id="{7901F58B-81BC-AFE9-06E7-E63BEA47964B}"/>
              </a:ext>
            </a:extLst>
          </p:cNvPr>
          <p:cNvSpPr/>
          <p:nvPr/>
        </p:nvSpPr>
        <p:spPr>
          <a:xfrm>
            <a:off x="1324220" y="5302763"/>
            <a:ext cx="9281160" cy="621792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42" name="TextBox 22">
            <a:extLst>
              <a:ext uri="{FF2B5EF4-FFF2-40B4-BE49-F238E27FC236}">
                <a16:creationId xmlns:a16="http://schemas.microsoft.com/office/drawing/2014/main" id="{0BEAEEFF-E3EC-7B8C-4651-2DE177E442C8}"/>
              </a:ext>
            </a:extLst>
          </p:cNvPr>
          <p:cNvSpPr txBox="1"/>
          <p:nvPr/>
        </p:nvSpPr>
        <p:spPr>
          <a:xfrm>
            <a:off x="1652014" y="5496590"/>
            <a:ext cx="1893077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_tradnl" sz="1250" b="1" i="0" spc="3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Garantía principal</a:t>
            </a:r>
          </a:p>
        </p:txBody>
      </p:sp>
      <p:sp>
        <p:nvSpPr>
          <p:cNvPr id="43" name="TextBox 23">
            <a:extLst>
              <a:ext uri="{FF2B5EF4-FFF2-40B4-BE49-F238E27FC236}">
                <a16:creationId xmlns:a16="http://schemas.microsoft.com/office/drawing/2014/main" id="{0350E975-60B1-8EF1-60F1-B243D773876F}"/>
              </a:ext>
            </a:extLst>
          </p:cNvPr>
          <p:cNvSpPr txBox="1"/>
          <p:nvPr/>
        </p:nvSpPr>
        <p:spPr>
          <a:xfrm>
            <a:off x="4093732" y="5505937"/>
            <a:ext cx="301752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_tradnl" sz="1400" b="0" i="0" dirty="0">
                <a:solidFill>
                  <a:srgbClr val="1B2430"/>
                </a:solidFill>
                <a:latin typeface="Calibri"/>
              </a:rPr>
              <a:t>Seguridad computacional postcuántica</a:t>
            </a:r>
          </a:p>
        </p:txBody>
      </p:sp>
      <p:sp>
        <p:nvSpPr>
          <p:cNvPr id="45" name="TextBox 25">
            <a:extLst>
              <a:ext uri="{FF2B5EF4-FFF2-40B4-BE49-F238E27FC236}">
                <a16:creationId xmlns:a16="http://schemas.microsoft.com/office/drawing/2014/main" id="{293D661A-281D-2791-A6A2-86E53A7FD2C6}"/>
              </a:ext>
            </a:extLst>
          </p:cNvPr>
          <p:cNvSpPr txBox="1"/>
          <p:nvPr/>
        </p:nvSpPr>
        <p:spPr>
          <a:xfrm>
            <a:off x="7751332" y="5505937"/>
            <a:ext cx="301752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_tradnl" sz="1400" b="0" i="0" dirty="0">
                <a:latin typeface="Calibri"/>
              </a:rPr>
              <a:t>Detección física de interceptación</a:t>
            </a:r>
          </a:p>
        </p:txBody>
      </p:sp>
      <p:sp>
        <p:nvSpPr>
          <p:cNvPr id="47" name="TextBox 29">
            <a:extLst>
              <a:ext uri="{FF2B5EF4-FFF2-40B4-BE49-F238E27FC236}">
                <a16:creationId xmlns:a16="http://schemas.microsoft.com/office/drawing/2014/main" id="{9FF575FA-62BE-02DB-1559-98687B0487BE}"/>
              </a:ext>
            </a:extLst>
          </p:cNvPr>
          <p:cNvSpPr txBox="1"/>
          <p:nvPr/>
        </p:nvSpPr>
        <p:spPr>
          <a:xfrm>
            <a:off x="3727971" y="5476499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s-ES_tradnl" sz="1600" b="1" i="0" dirty="0">
                <a:solidFill>
                  <a:srgbClr val="0060AB"/>
                </a:solidFill>
                <a:latin typeface="Calibri"/>
              </a:rPr>
              <a:t>✓</a:t>
            </a:r>
          </a:p>
        </p:txBody>
      </p:sp>
      <p:sp>
        <p:nvSpPr>
          <p:cNvPr id="48" name="TextBox 29">
            <a:extLst>
              <a:ext uri="{FF2B5EF4-FFF2-40B4-BE49-F238E27FC236}">
                <a16:creationId xmlns:a16="http://schemas.microsoft.com/office/drawing/2014/main" id="{9E0ECF0E-AB2A-695F-A0DA-D0BF2812F3FD}"/>
              </a:ext>
            </a:extLst>
          </p:cNvPr>
          <p:cNvSpPr txBox="1"/>
          <p:nvPr/>
        </p:nvSpPr>
        <p:spPr>
          <a:xfrm>
            <a:off x="7385571" y="5482241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s-ES_tradnl" sz="1600" b="1" i="0" dirty="0">
                <a:solidFill>
                  <a:srgbClr val="0060AB"/>
                </a:solidFill>
                <a:latin typeface="Calibri"/>
              </a:rPr>
              <a:t>✓</a:t>
            </a:r>
          </a:p>
        </p:txBody>
      </p:sp>
    </p:spTree>
    <p:extLst>
      <p:ext uri="{BB962C8B-B14F-4D97-AF65-F5344CB8AC3E}">
        <p14:creationId xmlns:p14="http://schemas.microsoft.com/office/powerpoint/2010/main" val="25016805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63E35-7C57-4B46-157F-ACE0A1A9A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1040C29-30F8-8BE5-A65D-01380FCA6383}"/>
              </a:ext>
            </a:extLst>
          </p:cNvPr>
          <p:cNvSpPr/>
          <p:nvPr/>
        </p:nvSpPr>
        <p:spPr>
          <a:xfrm>
            <a:off x="841248" y="457200"/>
            <a:ext cx="105091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_tradnl" sz="1150" b="1" kern="0" spc="300" dirty="0">
                <a:solidFill>
                  <a:srgbClr val="006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8 · CONCLUSIÓN</a:t>
            </a:r>
            <a:endParaRPr lang="es-ES_tradnl" sz="1150" dirty="0"/>
          </a:p>
        </p:txBody>
      </p:sp>
      <p:pic>
        <p:nvPicPr>
          <p:cNvPr id="3" name="Image 0" descr="figs/uax_color.png">
            <a:extLst>
              <a:ext uri="{FF2B5EF4-FFF2-40B4-BE49-F238E27FC236}">
                <a16:creationId xmlns:a16="http://schemas.microsoft.com/office/drawing/2014/main" id="{295A1E1F-666F-163D-290D-DF889E673E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6854" y="164593"/>
            <a:ext cx="1932677" cy="749808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20DDA45E-708E-9036-798B-2CCFDF7811E6}"/>
              </a:ext>
            </a:extLst>
          </p:cNvPr>
          <p:cNvSpPr/>
          <p:nvPr/>
        </p:nvSpPr>
        <p:spPr>
          <a:xfrm>
            <a:off x="841248" y="731520"/>
            <a:ext cx="1050919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_tradnl" sz="3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</a:t>
            </a:r>
            <a:endParaRPr lang="es-ES_tradnl" sz="30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218FCDEC-4D5F-96EB-FC47-B68FFF3E66D5}"/>
              </a:ext>
            </a:extLst>
          </p:cNvPr>
          <p:cNvSpPr/>
          <p:nvPr/>
        </p:nvSpPr>
        <p:spPr>
          <a:xfrm>
            <a:off x="841248" y="1481328"/>
            <a:ext cx="10509199" cy="0"/>
          </a:xfrm>
          <a:prstGeom prst="line">
            <a:avLst/>
          </a:prstGeom>
          <a:noFill/>
          <a:ln w="12700">
            <a:solidFill>
              <a:srgbClr val="C8CFD4"/>
            </a:solidFill>
            <a:prstDash val="solid"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D56B8E41-7AA5-08EC-A3AD-30C75DFDE980}"/>
              </a:ext>
            </a:extLst>
          </p:cNvPr>
          <p:cNvSpPr/>
          <p:nvPr/>
        </p:nvSpPr>
        <p:spPr>
          <a:xfrm>
            <a:off x="841248" y="6400800"/>
            <a:ext cx="10509199" cy="0"/>
          </a:xfrm>
          <a:prstGeom prst="line">
            <a:avLst/>
          </a:prstGeom>
          <a:noFill/>
          <a:ln w="9525">
            <a:solidFill>
              <a:srgbClr val="E7EBEE"/>
            </a:solidFill>
            <a:prstDash val="solid"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9EE3FA22-5682-2E2C-E058-298505632531}"/>
              </a:ext>
            </a:extLst>
          </p:cNvPr>
          <p:cNvSpPr/>
          <p:nvPr/>
        </p:nvSpPr>
        <p:spPr>
          <a:xfrm>
            <a:off x="841248" y="645566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850" b="1" kern="0" spc="200" dirty="0">
                <a:solidFill>
                  <a:srgbClr val="AE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POSTCUÁNTICA · LEARNING WITH ERRORS</a:t>
            </a:r>
            <a:endParaRPr lang="es-ES_tradnl" sz="85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92668605-A9CA-4E71-C835-7E161D7E4855}"/>
              </a:ext>
            </a:extLst>
          </p:cNvPr>
          <p:cNvSpPr/>
          <p:nvPr/>
        </p:nvSpPr>
        <p:spPr>
          <a:xfrm>
            <a:off x="9521647" y="64556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_tradnl" sz="850" dirty="0">
                <a:solidFill>
                  <a:srgbClr val="AEB6BD"/>
                </a:solidFill>
                <a:latin typeface="Calibri"/>
              </a:rPr>
              <a:t>13</a:t>
            </a:r>
            <a:r>
              <a:rPr lang="es-ES_tradnl" sz="850" b="0" dirty="0">
                <a:solidFill>
                  <a:srgbClr val="AEB6BD"/>
                </a:solidFill>
                <a:latin typeface="Calibri"/>
              </a:rPr>
              <a:t> / 13</a:t>
            </a:r>
            <a:endParaRPr lang="es-ES_tradnl" sz="85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845B3087-7AC6-6514-41C8-63BB27082908}"/>
              </a:ext>
            </a:extLst>
          </p:cNvPr>
          <p:cNvSpPr/>
          <p:nvPr/>
        </p:nvSpPr>
        <p:spPr>
          <a:xfrm>
            <a:off x="841248" y="197510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2800" b="1" dirty="0">
                <a:solidFill>
                  <a:srgbClr val="0060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s-ES_tradnl" sz="28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7A04481E-F7C4-0E4B-0AF4-D674EB743715}"/>
              </a:ext>
            </a:extLst>
          </p:cNvPr>
          <p:cNvSpPr/>
          <p:nvPr/>
        </p:nvSpPr>
        <p:spPr>
          <a:xfrm>
            <a:off x="1389888" y="1993392"/>
            <a:ext cx="60702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2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 y corrección comparten parámetros</a:t>
            </a:r>
            <a:endParaRPr lang="es-ES_tradnl" sz="20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26DD1A6C-BA29-0223-5827-6A188D5FD448}"/>
              </a:ext>
            </a:extLst>
          </p:cNvPr>
          <p:cNvSpPr/>
          <p:nvPr/>
        </p:nvSpPr>
        <p:spPr>
          <a:xfrm flipV="1">
            <a:off x="841248" y="2658670"/>
            <a:ext cx="10509199" cy="1"/>
          </a:xfrm>
          <a:prstGeom prst="line">
            <a:avLst/>
          </a:prstGeom>
          <a:noFill/>
          <a:ln w="9525">
            <a:solidFill>
              <a:srgbClr val="E7EBEE"/>
            </a:solidFill>
            <a:prstDash val="solid"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6161EEB-FD5A-86F0-FD3D-FD16F10EC105}"/>
              </a:ext>
            </a:extLst>
          </p:cNvPr>
          <p:cNvSpPr/>
          <p:nvPr/>
        </p:nvSpPr>
        <p:spPr>
          <a:xfrm>
            <a:off x="841248" y="288950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2800" b="1" dirty="0">
                <a:solidFill>
                  <a:srgbClr val="0060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s-ES_tradnl" sz="28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743AC79-F4E7-8AFF-9C27-82F21C1C545F}"/>
              </a:ext>
            </a:extLst>
          </p:cNvPr>
          <p:cNvSpPr/>
          <p:nvPr/>
        </p:nvSpPr>
        <p:spPr>
          <a:xfrm>
            <a:off x="1389888" y="2907792"/>
            <a:ext cx="5122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2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ruido no es un defecto</a:t>
            </a:r>
            <a:endParaRPr lang="es-ES_tradnl" sz="2000" dirty="0"/>
          </a:p>
        </p:txBody>
      </p:sp>
      <p:sp>
        <p:nvSpPr>
          <p:cNvPr id="11" name="Shape 10">
            <a:extLst>
              <a:ext uri="{FF2B5EF4-FFF2-40B4-BE49-F238E27FC236}">
                <a16:creationId xmlns:a16="http://schemas.microsoft.com/office/drawing/2014/main" id="{F1883A45-9DAD-DE8B-7DA0-8F3E25D64DE2}"/>
              </a:ext>
            </a:extLst>
          </p:cNvPr>
          <p:cNvSpPr/>
          <p:nvPr/>
        </p:nvSpPr>
        <p:spPr>
          <a:xfrm flipV="1">
            <a:off x="841248" y="3546756"/>
            <a:ext cx="10509199" cy="1"/>
          </a:xfrm>
          <a:prstGeom prst="line">
            <a:avLst/>
          </a:prstGeom>
          <a:noFill/>
          <a:ln w="9525">
            <a:solidFill>
              <a:srgbClr val="E7EBEE"/>
            </a:solidFill>
            <a:prstDash val="solid"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EE4503A5-A72A-A4E0-A3BF-C25AFD49D892}"/>
              </a:ext>
            </a:extLst>
          </p:cNvPr>
          <p:cNvSpPr/>
          <p:nvPr/>
        </p:nvSpPr>
        <p:spPr>
          <a:xfrm>
            <a:off x="841248" y="37764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2800" b="1" dirty="0">
                <a:solidFill>
                  <a:srgbClr val="0060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s-ES_tradnl" sz="2800" dirty="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7898A620-6964-4046-1389-75BE8ADBECEE}"/>
              </a:ext>
            </a:extLst>
          </p:cNvPr>
          <p:cNvSpPr/>
          <p:nvPr/>
        </p:nvSpPr>
        <p:spPr>
          <a:xfrm>
            <a:off x="1389888" y="3794760"/>
            <a:ext cx="534544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2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Recorrido coherente y desplegable</a:t>
            </a:r>
            <a:endParaRPr lang="es-ES_tradnl" sz="2000" dirty="0"/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D3140F19-B700-B21A-DAF2-90EB64AC12EC}"/>
              </a:ext>
            </a:extLst>
          </p:cNvPr>
          <p:cNvSpPr/>
          <p:nvPr/>
        </p:nvSpPr>
        <p:spPr>
          <a:xfrm>
            <a:off x="841248" y="4709160"/>
            <a:ext cx="10509199" cy="960120"/>
          </a:xfrm>
          <a:prstGeom prst="rect">
            <a:avLst/>
          </a:prstGeom>
          <a:solidFill>
            <a:srgbClr val="EDF3F9"/>
          </a:solidFill>
          <a:ln/>
        </p:spPr>
        <p:txBody>
          <a:bodyPr/>
          <a:lstStyle/>
          <a:p>
            <a:endParaRPr lang="es-ES_tradnl" dirty="0"/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03B48AEC-BDC0-D1C2-A294-53D6F01B7EAB}"/>
              </a:ext>
            </a:extLst>
          </p:cNvPr>
          <p:cNvSpPr/>
          <p:nvPr/>
        </p:nvSpPr>
        <p:spPr>
          <a:xfrm>
            <a:off x="841248" y="4709160"/>
            <a:ext cx="0" cy="960120"/>
          </a:xfrm>
          <a:prstGeom prst="line">
            <a:avLst/>
          </a:prstGeom>
          <a:noFill/>
          <a:ln w="31750">
            <a:solidFill>
              <a:srgbClr val="0060AB"/>
            </a:solidFill>
            <a:prstDash val="solid"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6" name="Text 16">
            <a:extLst>
              <a:ext uri="{FF2B5EF4-FFF2-40B4-BE49-F238E27FC236}">
                <a16:creationId xmlns:a16="http://schemas.microsoft.com/office/drawing/2014/main" id="{DE474BAA-3022-80FF-5DD9-4861FDA1517E}"/>
              </a:ext>
            </a:extLst>
          </p:cNvPr>
          <p:cNvSpPr/>
          <p:nvPr/>
        </p:nvSpPr>
        <p:spPr>
          <a:xfrm>
            <a:off x="1207008" y="4709160"/>
            <a:ext cx="986911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2400"/>
              </a:lnSpc>
            </a:pPr>
            <a:r>
              <a:rPr lang="es-ES_tradnl" b="1" i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Una pequeña cantidad de incertidumbre, introducida en una ecuación matemática exacta, se convierte en unos de los cimientos de la criptografía postcuántica.</a:t>
            </a:r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3124A669-6052-FB5F-6AB2-EB210BF2FF4C}"/>
              </a:ext>
            </a:extLst>
          </p:cNvPr>
          <p:cNvSpPr/>
          <p:nvPr/>
        </p:nvSpPr>
        <p:spPr>
          <a:xfrm>
            <a:off x="841247" y="6071617"/>
            <a:ext cx="105091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200" i="1" dirty="0">
                <a:solidFill>
                  <a:srgbClr val="AE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Limitaciones: parámetros ilustrativos · implementación simplificada · ataques a nivel conceptual.</a:t>
            </a:r>
            <a:endParaRPr lang="es-ES_tradnl" sz="1200" dirty="0"/>
          </a:p>
        </p:txBody>
      </p:sp>
    </p:spTree>
    <p:extLst>
      <p:ext uri="{BB962C8B-B14F-4D97-AF65-F5344CB8AC3E}">
        <p14:creationId xmlns:p14="http://schemas.microsoft.com/office/powerpoint/2010/main" val="26974744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a libre 11">
            <a:extLst>
              <a:ext uri="{FF2B5EF4-FFF2-40B4-BE49-F238E27FC236}">
                <a16:creationId xmlns:a16="http://schemas.microsoft.com/office/drawing/2014/main" id="{D2B11345-E8EA-ACC7-79CF-9FA1F48C198A}"/>
              </a:ext>
            </a:extLst>
          </p:cNvPr>
          <p:cNvSpPr/>
          <p:nvPr/>
        </p:nvSpPr>
        <p:spPr>
          <a:xfrm>
            <a:off x="0" y="0"/>
            <a:ext cx="12192001" cy="6858000"/>
          </a:xfrm>
          <a:custGeom>
            <a:avLst/>
            <a:gdLst>
              <a:gd name="connsiteX0" fmla="*/ 1130164 w 5988108"/>
              <a:gd name="connsiteY0" fmla="*/ 0 h 6858123"/>
              <a:gd name="connsiteX1" fmla="*/ 4627399 w 5988108"/>
              <a:gd name="connsiteY1" fmla="*/ 0 h 6858123"/>
              <a:gd name="connsiteX2" fmla="*/ 4627399 w 5988108"/>
              <a:gd name="connsiteY2" fmla="*/ 121 h 6858123"/>
              <a:gd name="connsiteX3" fmla="*/ 5988108 w 5988108"/>
              <a:gd name="connsiteY3" fmla="*/ 121 h 6858123"/>
              <a:gd name="connsiteX4" fmla="*/ 3645379 w 5988108"/>
              <a:gd name="connsiteY4" fmla="*/ 6858120 h 6858123"/>
              <a:gd name="connsiteX5" fmla="*/ 3497235 w 5988108"/>
              <a:gd name="connsiteY5" fmla="*/ 6858120 h 6858123"/>
              <a:gd name="connsiteX6" fmla="*/ 3497235 w 5988108"/>
              <a:gd name="connsiteY6" fmla="*/ 6858123 h 6858123"/>
              <a:gd name="connsiteX7" fmla="*/ 0 w 5988108"/>
              <a:gd name="connsiteY7" fmla="*/ 6858123 h 6858123"/>
              <a:gd name="connsiteX8" fmla="*/ 0 w 5988108"/>
              <a:gd name="connsiteY8" fmla="*/ 123 h 6858123"/>
              <a:gd name="connsiteX9" fmla="*/ 1130164 w 5988108"/>
              <a:gd name="connsiteY9" fmla="*/ 123 h 6858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988108" h="6858123">
                <a:moveTo>
                  <a:pt x="1130164" y="0"/>
                </a:moveTo>
                <a:lnTo>
                  <a:pt x="4627399" y="0"/>
                </a:lnTo>
                <a:lnTo>
                  <a:pt x="4627399" y="121"/>
                </a:lnTo>
                <a:lnTo>
                  <a:pt x="5988108" y="121"/>
                </a:lnTo>
                <a:lnTo>
                  <a:pt x="3645379" y="6858120"/>
                </a:lnTo>
                <a:lnTo>
                  <a:pt x="3497235" y="6858120"/>
                </a:lnTo>
                <a:lnTo>
                  <a:pt x="3497235" y="6858123"/>
                </a:lnTo>
                <a:lnTo>
                  <a:pt x="0" y="6858123"/>
                </a:lnTo>
                <a:lnTo>
                  <a:pt x="0" y="123"/>
                </a:lnTo>
                <a:lnTo>
                  <a:pt x="1130164" y="123"/>
                </a:lnTo>
                <a:close/>
              </a:path>
            </a:pathLst>
          </a:custGeom>
          <a:solidFill>
            <a:srgbClr val="0760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_tradnl" dirty="0"/>
          </a:p>
        </p:txBody>
      </p:sp>
      <p:pic>
        <p:nvPicPr>
          <p:cNvPr id="10" name="object 16">
            <a:extLst>
              <a:ext uri="{FF2B5EF4-FFF2-40B4-BE49-F238E27FC236}">
                <a16:creationId xmlns:a16="http://schemas.microsoft.com/office/drawing/2014/main" id="{58731C1D-78BA-E384-79A1-F1D7DFBABCC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83523" y="78575"/>
            <a:ext cx="3497234" cy="1319098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69DF4267-6090-847A-2F6D-04E12D2A0EBC}"/>
              </a:ext>
            </a:extLst>
          </p:cNvPr>
          <p:cNvSpPr txBox="1"/>
          <p:nvPr/>
        </p:nvSpPr>
        <p:spPr>
          <a:xfrm>
            <a:off x="1110694" y="1397673"/>
            <a:ext cx="33866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400" b="1" dirty="0">
                <a:solidFill>
                  <a:schemeClr val="bg1"/>
                </a:solidFill>
                <a:latin typeface="Muli" panose="02000503000000000000" pitchFamily="2" charset="77"/>
              </a:rPr>
              <a:t> </a:t>
            </a:r>
            <a:endParaRPr lang="es-ES_tradnl" sz="700" b="1" dirty="0">
              <a:solidFill>
                <a:schemeClr val="bg1"/>
              </a:solidFill>
              <a:latin typeface="Muli" panose="02000503000000000000" pitchFamily="2" charset="77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2DAFB02-E667-D4BD-7A3F-E8F1CD0B6F4C}"/>
              </a:ext>
            </a:extLst>
          </p:cNvPr>
          <p:cNvSpPr/>
          <p:nvPr/>
        </p:nvSpPr>
        <p:spPr>
          <a:xfrm>
            <a:off x="3261360" y="2167394"/>
            <a:ext cx="5669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4600"/>
              </a:lnSpc>
              <a:buNone/>
            </a:pPr>
            <a:r>
              <a:rPr lang="es-ES_tradnl" sz="4000" b="1" u="sng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</a:t>
            </a:r>
            <a:r>
              <a:rPr lang="es-ES_tradnl" sz="4000" b="1" u="sng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s-ES_tradnl" sz="4000" b="1" u="sng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</a:t>
            </a:r>
            <a:r>
              <a:rPr lang="es-ES_tradnl" sz="4000" b="1" u="sng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s-ES_tradnl" sz="4000" dirty="0"/>
          </a:p>
          <a:p>
            <a:pPr marL="0" indent="0" algn="ctr">
              <a:lnSpc>
                <a:spcPts val="4600"/>
              </a:lnSpc>
              <a:buNone/>
            </a:pPr>
            <a:r>
              <a:rPr lang="es-ES_tradnl" sz="4000" b="1" u="sng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Gracias!</a:t>
            </a:r>
            <a:endParaRPr lang="es-ES_tradnl" sz="4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717EB3D-80A3-B3DD-3252-3EECF7C1B585}"/>
              </a:ext>
            </a:extLst>
          </p:cNvPr>
          <p:cNvSpPr/>
          <p:nvPr/>
        </p:nvSpPr>
        <p:spPr>
          <a:xfrm>
            <a:off x="548641" y="5239627"/>
            <a:ext cx="4206240" cy="12992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300"/>
              </a:lnSpc>
              <a:buNone/>
            </a:pPr>
            <a:r>
              <a:rPr lang="es-ES_tradnl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Soy Innovación</a:t>
            </a:r>
            <a:endParaRPr lang="es-ES_tradnl" sz="2500" dirty="0"/>
          </a:p>
          <a:p>
            <a:pPr marL="0" indent="0">
              <a:lnSpc>
                <a:spcPts val="3300"/>
              </a:lnSpc>
              <a:buNone/>
            </a:pPr>
            <a:r>
              <a:rPr lang="es-ES_tradnl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Soy Maker</a:t>
            </a:r>
            <a:endParaRPr lang="es-ES_tradnl" sz="2500" dirty="0"/>
          </a:p>
          <a:p>
            <a:pPr marL="0" indent="0">
              <a:lnSpc>
                <a:spcPts val="3300"/>
              </a:lnSpc>
              <a:buNone/>
            </a:pPr>
            <a:r>
              <a:rPr lang="es-ES_tradnl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Soy UAX</a:t>
            </a:r>
            <a:endParaRPr lang="es-ES_tradnl" sz="2500" dirty="0"/>
          </a:p>
        </p:txBody>
      </p:sp>
    </p:spTree>
    <p:extLst>
      <p:ext uri="{BB962C8B-B14F-4D97-AF65-F5344CB8AC3E}">
        <p14:creationId xmlns:p14="http://schemas.microsoft.com/office/powerpoint/2010/main" val="6434081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2585</TotalTime>
  <Words>1319</Words>
  <Application>Microsoft Macintosh PowerPoint</Application>
  <PresentationFormat>Panorámica</PresentationFormat>
  <Paragraphs>272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1" baseType="lpstr">
      <vt:lpstr>Arial</vt:lpstr>
      <vt:lpstr>Calibri</vt:lpstr>
      <vt:lpstr>Cambria</vt:lpstr>
      <vt:lpstr>Courier New</vt:lpstr>
      <vt:lpstr>Muli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Seguridad en criptografía postcuántica — LWE</dc:title>
  <dc:subject>PptxGenJS Presentation</dc:subject>
  <dc:creator>Alejandro Martínez Ronda</dc:creator>
  <cp:lastModifiedBy>Alejandro Martínez Ronda</cp:lastModifiedBy>
  <cp:revision>19</cp:revision>
  <dcterms:created xsi:type="dcterms:W3CDTF">2026-06-24T09:59:01Z</dcterms:created>
  <dcterms:modified xsi:type="dcterms:W3CDTF">2026-06-27T21:45:42Z</dcterms:modified>
</cp:coreProperties>
</file>